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8" r:id="rId5"/>
    <p:sldId id="259" r:id="rId7"/>
    <p:sldId id="260" r:id="rId8"/>
    <p:sldId id="25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-1212" y="-108"/>
      </p:cViewPr>
      <p:guideLst>
        <p:guide orient="horz" pos="2222"/>
        <p:guide pos="29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25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7T21:30:23"/>
    </inkml:context>
    <inkml:brush xml:id="br0">
      <inkml:brushProperty name="width" value="0.08819" units="cm"/>
      <inkml:brushProperty name="height" value="0.35278" units="cm"/>
      <inkml:brushProperty name="color" value="#fff7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11392.999 2270.548,'12.000'0.000,"3.000"-2.000,-1.000-1.000,4.000 1.000,-5.000 0.000,-1.000 1.000,2.000 0.000,9.000 0.000,-1.000 1.000,-2.000-1.000,8.000-2.000,-12.000 1.000,-1.000-1.000,0.000 0.000,-1.000 0.000,1.000-1.000,0.000 1.000,-2.000 1.000,-3.000 0.000,0.000 1.000,0.000 0.000,0.000 0.000,8.000 0.000,-7.000 1.000,7.000-1.000,-2.000 1.000,-1.000 0.000,-2.000 1.000,0.000-1.000,4.000 0.000,0.000 0.000,-3.000 0.000,1.000 0.000,4.000 0.000,1.000 0.000,-6.000 0.000,0.000 0.000,7.000 0.000,1.000 0.000,1.000 1.000,-2.000-1.000,-1.000 0.000,-3.000 0.000,1.000 0.000,-4.000-1.000,-4.000 1.000,4.000-1.000,-9.000-8.000,-17.000 5.000,-2.000 4.000,-5.000 0.000,-1.000 0.000,5.000 0.000,-3.000 0.000,-5.000 0.000,-2.000 0.000,0.000 0.000,0.000 0.000,7.000 0.000,-1.000 0.000,-6.000 1.000,2.000-1.000,2.000 0.000,2.000 0.000,0.000 0.000,4.000 0.000,4.000 0.000,-3.000 0.000,3.000-1.000,-5.000 1.000,0.000 0.000,2.000 0.000,0.000 0.000,2.000 0.000,-1.000 0.000,1.000 0.000,-1.000 0.000,-6.000 0.000,1.000 0.000,0.000 0.000,0.000 0.000,3.000 0.000,0.000 0.000,-2.000 0.000,2.000 0.000,3.000 0.000,-3.000 0.000,25.000 1.000,4.000 4.000,-1.000-1.000,2.000 0.000,4.000 0.000,-3.000-2.000,3.000 0.000,11.000 1.000,3.000-2.000,2.000 1.000,-12.000-2.000,1.000 1.000,13.000-1.000,4.000 0.000,-17.000 0.000,2.000 0.000,4.000 0.000,2.000 0.000,-5.000 0.000,0.000 0.000,9.000 0.000,-3.000 0.000,-2.000 0.000,-2.000 0.000,-6.000 0.000,-2.000 0.000,6.000 0.000,-4.000 0.000,-3.000 0.000,-3.000 0.000,-2.000 0.000,-2.000-1.000,1.000 1.000,-2.000 0.000,5.000 0.000,-5.000 0.000,0.000 0.000,0.000 0.000,-1.000 0.000,0.000 0.000,0.000 0.000,1.000 0.000,0.000 0.000,0.000 0.000,8.000 0.000,0.000 0.000,0.000 0.000,-8.000 1.000,1.000-1.000,3.000 2.000,1.000 0.000,-2.000-1.000,4.000 2.000,-1.000 0.000,-8.000-1.000,8.000 1.000,2.000-1.000,2.000 1.000,-4.000-2.000,0.000 1.000,-1.000-1.000,-2.000 0.000,-2.000-1.000,0.000 1.000,-2.000-1.000,-1.000 0.000,5.000 0.000,-1.000 0.000,-3.000 1.000,0.000-1.000,7.000 1.000,1.000 1.000,4.000 0.000,-3.000 0.000,-1.000-1.000,8.000 2.000,-12.000-1.000,1.000-1.000,0.000 1.000,-1.000 0.000,4.000 0.000,-1.000-1.000,-3.000 1.000,0.000-1.000,0.000 0.000,0.000-1.000,0.000 1.000,-1.000 0.000,-3.000-1.000,-1.000 0.000,5.000 0.000,5.000 0.000,-1.000 0.000,-7.000 0.000,1.000 0.000,-1.000 0.000,1.000 0.000,4.000 0.000,3.000 0.000,5.000 0.000,-1.000 0.000,1.000 0.000,-6.000-1.000,-1.000 1.000,4.000 0.000,-2.000 0.000,1.000 0.000,-3.000 0.000,-4.000 0.000,-3.000 0.000,3.000 0.000,-4.000 0.000,4.000 1.000,-2.000-1.000,4.000 0.000,-6.000 0.000,6.000 0.000,1.000 0.000,0.000 0.000,-2.000 0.000,-1.000 0.000,-1.000 0.000,5.000 0.000,-7.000 0.000,1.000 1.000,4.000 1.000,2.000 0.000,-5.000 0.000,0.000 0.000,6.000 1.000,1.000 0.000,-6.000-1.000,1.000 0.000,12.000 1.000,-3.000-1.000,-3.000-1.000,-5.000 1.000,-2.000-2.000,-4.000 1.000,3.000-1.000,-3.000 0.000,2.000 8.000,-4.000 0.000,0.000 0.000,0.000-4.000,2.000-4.000,6.000 0.000,-6.000 0.000,0.000 0.000,1.000 0.000,6.000-1.000,-4.000 1.000,-1.000 0.000,-1.000 0.000,6.000-1.000,0.000-1.000,0.000-1.000,0.000 0.000,-2.000 1.000,1.000-2.000,-3.000-1.000,-2.000 0.000,-2.000 1.000,-9.000-7.000,-13.000 10.000,-8.000 1.000,8.000 0.000,-2.000-1.000,3.000 1.000,-2.000 0.000,-11.000 0.000,-5.000 0.000,7.000 0.000,-3.000 0.000,-8.000 0.000,-5.000 0.000,-11.000 0.000,-5.000 0.000,-2.000 0.000,-3.000 0.000,-1.000 0.000,-1.000 0.000,7.000 0.000,0.000 0.000,-9.000 0.000,2.000 0.000,8.000 0.000,0.000 0.000,1.000 1.000,0.000-1.000,-7.000 0.000,2.000 0.000,7.000 0.000,2.000 0.000,-15.000 0.000,4.000 0.000,5.000 0.000,4.000 0.000,4.000 0.000,11.000 0.000,3.000 0.000,-3.000 0.000,3.000 0.000,6.000 0.000,2.000 0.000,-1.000 0.000,1.000 0.000,5.000 0.000,0.000 0.000,1.000 0.000,1.000 0.000,-1.000 0.000,0.000 0.000,3.000 0.000,2.000 0.000,-4.000 0.000,0.000 0.000,5.000 0.000,1.000 0.000,-6.000 0.000,-1.000 0.000,2.000 0.000,0.000 0.000,-9.000 0.000,1.000 0.000,-1.000 0.000,7.000 0.000,0.000 0.000,2.000 0.000,0.000 0.000,0.000 0.000,0.000 0.000,4.000 0.000,1.000 0.000,-8.000-1.000,0.000 0.000,4.000 0.000,-1.000 0.000,-3.000-1.000,-1.000 1.000,5.000 0.000,-1.000 0.000,-9.000-1.000,0.000 1.000,-4.000 0.000,10.000 1.000,-1.000-1.000,-8.000 1.000,1.000-1.000,10.000 1.000,0.000 0.000,4.000 0.000,0.000 0.000,-7.000 0.000,4.000 0.000,4.000 0.000,-4.000 1.000,25.000 5.000,1.000-2.000,1.000-1.000,0.000-3.000,9.000 0.000,-4.000 0.000,6.000 1.000,1.000-1.000,5.000 0.000,-8.000 0.000,3.000 0.000,17.000 0.000,5.000 0.000,-8.000 0.000,3.000 0.000,2.000 0.000,4.000 0.000,15.000 0.000,2.000 0.000,-13.000 0.000,-2.000 0.000,6.000-1.000,-1.000 0.000,7.000 0.000,-5.000-1.000,-6.000 0.000,-17.000 1.000,-2.000-1.000,-1.000 1.000,-2.000 1.000,2.000-1.000,-3.000 0.000,-2.000 0.000,0.000 1.000,-7.000 0.000,1.000-1.000,12.000 1.000,2.000 0.000,-4.000 0.000,3.000 0.000,2.000 0.000,-7.000 0.000,1.000 0.000,17.000 0.000,-2.000 0.000,-14.000 0.000,-2.000 0.000,3.000 0.000,-3.000 0.000,-10.000 0.000,-2.000 0.000,8.000 0.000,-3.000 0.000,-3.000 1.000,-2.000-1.000,0.000 0.000,5.000 0.000,-5.000 0.000,1.000 0.000,-4.000 0.000,0.000 0.000,5.000 0.000,2.000 0.000,-6.000 0.000,1.000 0.000,8.000 0.000,1.000 0.000,1.000 0.000,-4.000 0.000,-1.000 0.000,-4.000 0.000,0.000 0.000,2.000-1.000,-1.000 1.000,-2.000 0.000,-1.000 0.000,8.000 0.000,1.000 0.000,-5.000 0.000,0.000 0.000,2.000 0.000,0.000 0.000,-2.000 0.000,0.000 0.000,-4.000 0.000,-1.000 0.000,3.000 0.000,0.000 0.000,0.000 0.000,1.000 0.000,0.000 0.000,0.000 0.000,4.000 0.000,-2.000 0.000,2.000 0.000,-3.000 0.000,-3.000 0.000,-2.000 0.000,1.000 0.000,-1.000 0.000,-2.000-7.000,1.000-1.000,-1.000 2.000,1.000 1.000,1.000 3.000,0.000 2.000,4.000 0.000,-2.000 1.000,0.000-2.000,-16.000-9.000,-11.000 5.000,0.000 3.000,-4.000 0.000,3.000 1.000,-4.000 0.000,-14.000 0.000,-8.000 0.000,-6.000 0.000,-7.000 0.000,3.000 0.000,-4.000 0.000,6.000-1.000,-3.000 0.000,-21.000-2.000,-2.000 0.000,-11.000-1.000,2.000 0.000,20.000 1.000,3.000 1.000,9.000 1.000,3.000-1.000,-23.000 1.000,6.000 0.000,14.000 0.000,5.000 1.000,7.000 0.000,-2.000 0.000,7.000 1.000,14.000 0.000,3.000 0.000,0.000 0.000,1.000-1.000,-1.000 0.000,-1.000-1.000,7.000 1.000,-1.000 0.000,-4.000 0.000,-1.000 0.000,-5.000 0.000,-3.000 0.000,-1.000 0.000,-2.000 1.000,3.000-1.000,-2.000 1.000,-4.000 0.000,8.000-1.000,-7.000 1.000,0.000 0.000,1.000 0.000,3.000 0.000,-3.000 0.000,4.000 0.000,3.000 0.000,6.000 0.000,0.000 0.000,6.000 0.000,0.000 0.000,-8.000 0.000,7.000 0.000,-2.000 0.000,0.000 0.000,1.000 0.000,1.000 0.000,0.000 1.000,-5.000-1.000,-1.000 0.000,-2.000 0.000,4.000 0.000,-1.000 0.000,5.000 0.000,0.000 0.000,-8.000 0.000,-1.000 0.000,10.000 0.000,0.000 0.000,-7.000 0.000,4.000 0.000,2.000 0.000,-2.000 0.000,26.000 1.000,-1.000 2.000,13.000 0.000,-2.000-2.000,3.000 1.000,5.000-1.000,3.000 0.000,0.000 0.000,15.000-1.000,6.000 0.000,-13.000 1.000,2.000-1.000,10.000 0.000,3.000 0.000,-12.000 0.000,1.000 0.000,17.000 0.000,1.000 0.000,-9.000 0.000,-2.000 0.000,16.000 0.000,-8.000 0.000,-8.000 0.000,-23.000 0.000,17.000 0.000,-1.000 0.000,-4.000 0.000,-5.000 0.000,-8.000-1.000,-13.000 1.000,17.000 0.000,1.000 0.000,0.000 0.000,-1.000 0.000,-9.000 0.000,1.000 0.000,10.000 0.000,0.000 0.000,-3.000 0.000,1.000 0.000,11.000 0.000,1.000 0.000,-13.000 0.000,-1.000 0.000,6.000 0.000,0.000 0.000,5.000 0.000,-2.000 0.000,-7.000 0.000,0.000 1.000,-6.000-1.000,-1.000 0.000,7.000 0.000,-3.000 0.000,2.000 0.000,-3.000 0.000,-3.000 0.000,-2.000 0.000,3.000 0.000,-2.000 0.000,-4.000 0.000,-4.000 0.000,-2.000 0.000,-3.000 0.000,5.000 0.000,-5.000 0.000,1.000 0.000,3.000 0.000,3.000 0.000,-4.000 0.000,0.000 0.000,1.000 0.000,1.000 0.000,0.000 0.000,0.000 0.000,-2.000 0.000,-1.000 0.000,6.000-1.000,-4.000 1.000,-2.000 0.000,-2.000-1.000,3.000-1.000,-3.000-2.000,2.000-1.000,-1.000 4.000,7.000 1.000,-6.000-1.000,-1.000 1.000,-1.000 0.000,8.000 0.000,-5.000 0.000,-3.000 0.000,0.000 0.000,5.000 0.000,-3.000 0.000,5.000 1.000,-7.000-1.000,9.000 0.000,-8.000 0.000,-1.000 0.000,1.000 0.000,7.000 0.000,-6.000 0.000,4.000 0.000,2.000 0.000,-5.000 0.000,-1.000 0.000,0.000-1.000,-2.000 1.000,6.000 0.000,-1.000-4.000,2.000-3.000,-2.000 0.000,-5.000 0.000,-21.000 4.000,0.000 4.000,-1.000-1.000,-7.000 0.000,3.000 0.000,-2.000 0.000,-4.000 0.000,-3.000 0.000,2.000 0.000,-4.000 0.000,-6.000 0.000,-3.000 0.000,-1.000 0.000,-1.000 0.000,4.000 0.000,1.000 0.000,-11.000-1.000,4.000 1.000,3.000 0.000,5.000 0.000,3.000 0.000,6.000 0.000,2.000 0.000,2.000 0.000,1.000 0.000,-7.000 0.000,-1.000 0.000,-5.000 0.000,5.000 0.000,-2.000 0.000,-1.000 0.000,-2.000 0.000,2.000 0.000,-1.000 0.000,3.000 0.000,-1.000 0.000,-18.000 0.000,-2.000 0.000,10.000 0.000,-1.000 0.000,1.000 0.000,-2.000 0.000,0.000 0.000,-1.000 0.000,-10.000 0.000,0.000 0.000,-3.000 0.000,3.000 0.000,4.000 0.000,10.000 0.000,1.000 0.000,8.000 0.000,0.000 0.000,-22.000 0.000,0.000 0.000,-5.000 0.000,5.000 1.000,3.000 0.000,11.000 0.000,2.000 0.000,-2.000 1.000,1.000 0.000,10.000 1.000,2.000-1.000,-10.000 2.000,4.000 1.000,7.000-1.000,2.000 0.000,-1.000 2.000,0.000-1.000,5.000 0.000,0.000-1.000,-5.000 2.000,1.000-2.000,1.000 0.000,7.000-2.000,0.000 0.000,0.000 0.000,1.000 0.000,-3.000 2.000,0.000-1.000,-1.000 0.000,1.000 1.000,0.000-1.000,1.000 1.000,1.000 0.000,0.000 0.000,-2.000 1.000,-1.000 0.000,0.000 0.000,0.000-1.000,-2.000 2.000,1.000-1.000,2.000 1.000,-5.000 3.000,4.000-3.000,3.000-1.000,2.000 0.000,-3.000 1.000,13.000 4.000,8.000-4.000,-1.000 1.000,2.000 1.000,0.000-5.000,7.000 0.000,-5.000-2.000,3.000 0.000,4.000 0.000,1.000 0.000,5.000-1.000,8.000 0.000,5.000 1.000,-6.000-1.000,3.000 0.000,16.000 0.000,6.000 0.000,12.000 0.000,0.000 0.000,-1.000 0.000,-5.000 0.000,1.000 0.000,-16.000 0.000,0.000 0.000,5.000 0.000,-1.000 0.000,-2.000 0.000,-3.000 0.000,-12.000 0.000,0.000 0.000,8.000 0.000,-1.000-1.000,-1.000 1.000,-2.000 0.000,-2.000 0.000,-1.000 0.000,-7.000 0.000,-2.000 0.000,1.000 0.000,-3.000 0.000,-1.000 0.000,-3.000 0.000,1.000 0.000,-4.000 0.000,-3.000 0.000,-2.000 0.000,-2.000 0.000,0.000 0.000,-12.000-11.000,-9.000 9.000,-5.000 2.000,4.000-1.000,-5.000 1.000,1.000 0.000,-5.000 0.000,3.000 0.000,-4.000 0.000,-8.000 0.000,-5.000 0.000,-11.000 0.000,-7.000 0.000,-6.000 0.000,-4.000 0.000,13.000 0.000,-1.000 0.000,-20.000 0.000,-2.000 0.000,1.000 0.000,2.000 0.000,4.000 0.000,3.000 0.000,12.000 1.000,3.000-1.000,-1.000 0.000,4.000 0.000,6.000 0.000,4.000 0.000,6.000 0.000,2.000 0.000,0.000 0.000,4.000 0.000,4.000 0.000,8.000 0.000,-14.000 0.000,10.000 0.000,3.000 0.000,0.000 0.000,-6.000 0.000,0.000 0.000,-1.000-1.000,3.000 1.000,1.000 0.000,4.000 0.000,-1.000 0.000,-4.000 0.000,1.000 0.000,0.000 0.000,1.000 0.000,-2.000 0.000,2.000 0.000,2.000 0.000,1.000 0.000,-4.000 0.000,4.000 0.000,-2.000 0.000,-1.000 0.000,3.000 0.000,0.000 0.000,-2.000 0.000,2.000 0.000,2.000 5.000,0.000 0.000,-3.000-2.000,-1.000 4.000,4.000-1.000,-5.000 1.000,3.000-1.000,2.000-2.000,19.000-5.000,5.000 1.000,4.000 2.000,1.000 0.000,1.000-1.000,6.000 1.000,-4.000-1.000,5.000 0.000,23.000 0.000,8.000 0.000,-1.000 0.000,4.000 0.000,-13.000 0.000,1.000-1.000,31.000 0.000,3.000 1.000,-20.000-1.000,0.000 0.000,7.000 0.000,-3.000 0.000,3.000 0.000,-9.000 0.000,-9.000 0.000,-10.000 0.000,-9.000 0.000,-7.000 0.000,-7.000 0.000,-7.000 0.000,-1.000 0.000,-1.000-1.000,5.000 1.000,-5.000 0.000,8.000 0.000,5.000 0.000,-4.000 0.000,3.000 0.000,11.000 0.000,4.000 0.000,7.000 0.000,-7.000 0.000,-3.000 0.000,-2.000 1.000,-3.000-1.000,-10.000 0.000,-1.000 0.000,4.000 0.000,-2.000 0.000,-2.000 0.000,-2.000 0.000,-2.000 0.000,-2.000 0.000,5.000 0.000,-5.000 0.000,0.000 0.000,0.000 0.000,0.000 0.000,0.000 1.000,1.000 1.000,0.000-1.000,0.000 0.000,8.000 1.000,2.000 0.000,1.000-1.000,-2.000 0.000,0.000 0.000,3.000 0.000,-1.000-1.000,-3.000 1.000,-6.000-1.000,-2.000 0.000,-1.000 0.000,-1.000 0.000,-1.000 0.000,5.000 0.000,-5.000 0.000,-1.000 0.000,3.000 0.000,-1.000 0.000,2.000 0.000,3.000-1.000,3.000 1.000,2.000 0.000,-3.000 0.000,-2.000 0.000,15.000 0.000,1.000 0.000,0.000 0.000,-3.000 0.000,-1.000 0.000,-3.000 0.000,-10.000 0.000,-2.000 0.000,2.000 0.000,-3.000 0.000,-1.000 0.000,6.000 1.000,-8.000-1.000,7.000 1.000,2.000 1.000,-9.000 0.000,1.000-1.000,8.000 1.000,-4.000-1.000,2.000 0.000,-2.000 0.000,0.000 0.000,9.000 0.000,-2.000-1.000,-1.000 1.000,-2.000-1.000,-2.000 0.000,-3.000 0.000,-4.000 0.000,2.000 0.000,-23.000 0.000,-4.000-1.000,-2.000-2.000,6.000 1.000,-4.000-2.000,-4.000 0.000,-8.000-3.000,-5.000-1.000,-2.000 0.000,-5.000-2.000,-6.000 0.000,-4.000-2.000,-13.000-1.000,-4.000 0.000,6.000 3.000,-1.000 0.000,-26.000-2.000,5.000 3.000,36.000 4.000,2.000 0.000,-19.000 0.000,12.000 2.000,10.000 0.000,11.000 2.000,8.000 0.000,8.000 1.000,2.000 1.000,22.000 1.000,4.000 1.000,4.000 0.000,-7.000-1.000,-1.000-1.000,0.000 1.000,2.000-1.000,2.000 0.000,5.000 0.000,4.000-1.000,1.000 1.000,2.000-1.000,18.000 1.000,2.000-1.000,2.000 0.000,-9.000 0.000,-1.000 0.000,11.000 0.000,-2.000 0.000,-3.000 0.000,-27.000 0.000,15.000 0.000,-1.000 0.000,-2.000 0.000,-7.000 0.000,-1.000 0.000,-2.000 0.000,-3.000 0.000,1.000 0.000,-3.000 0.000,-4.000 0.000,0.000-1.000,2.000 1.000,-2.000 0.000,0.000 0.000,4.000 0.000,-2.000 0.000,0.000 0.000,2.000 0.000,3.000 0.000,-2.000 1.000,0.000 2.000,2.000 2.000,6.000 0.000,-9.000-2.000,-2.000 0.000,0.000-1.000,6.000 0.000,-2.000 0.000,-2.000-1.000,-3.000 0.000,-2.000 0.000,4.000-1.000,-2.000 0.000,-1.000-1.000,3.000 1.000,-2.000 0.000,-24.000-3.000,-3.000 0.000,-6.000 0.000,9.000 2.000,-2.000 0.000,-6.000 1.000,-4.000-1.000,4.000 0.000,-3.000 1.000,-27.000 0.000,0.000-1.000,0.000 1.000,2.000 0.000,2.000 0.000,4.000 0.000,4.000 0.000,11.000 0.000,2.000 0.000,-1.000 0.000,2.000 0.000,7.000 0.000,1.000 0.000,-2.000 0.000,0.000 0.000,-1.000 0.000,0.000 0.000,0.000 0.000,1.000 0.000,2.000 0.000,1.000 0.000,-3.000-2.000,-1.000 0.000,2.000-1.000,0.000 1.000,-5.000-1.000,-2.000 0.000,6.000 1.000,0.000 0.000,-16.000 0.000,2.000 0.000,1.000 0.000,4.000 1.000,3.000 0.000,11.000 0.000,1.000 1.000,-1.000 0.000,0.000 0.000,1.000 0.000,-1.000-1.000,-2.000 1.000,0.000 1.000,-5.000-1.000,0.000 0.000,2.000 0.000,-7.000 0.000,7.000 0.000,-11.000 0.000,3.000 0.000,-2.000 0.000,2.000 0.000,-1.000 0.000,-10.000 1.000,1.000-1.000,12.000 0.000,2.000 0.000,-7.000 0.000,1.000 0.000,-6.000-1.000,4.000 0.000,4.000-1.000,13.000 1.000,1.000 0.000,-2.000 0.000,-1.000 0.000,-3.000 0.000,0.000-1.000,2.000 2.000,1.000-1.000,-4.000 0.000,1.000 0.000,2.000 1.000,0.000 0.000,0.000-1.000,1.000 1.000,-3.000 0.000,0.000 0.000,3.000 0.000,-1.000 0.000,-4.000 0.000,1.000 0.000,5.000 0.000,1.000 0.000,-1.000 0.000,1.000 0.000,-7.000 0.000,0.000 0.000,4.000 0.000,1.000 0.000,0.000 0.000,3.000 0.000,1.000 0.000,-2.000 1.000,1.000-1.000,1.000 0.000,1.000 0.000,-6.000 0.000,1.000 0.000,3.000 0.000,-1.000 0.000,0.000 0.000,-1.000 0.000,2.000 0.000,1.000 0.000,0.000 0.000,-7.000 0.000,-1.000 0.000,2.000-1.000,3.000 0.000,0.000 0.000,-4.000-1.000,0.000 0.000,0.000 1.000,0.000-1.000,1.000 1.000,7.000 1.000,0.000-1.000,-2.000 0.000,-1.000 1.000,-2.000 0.000,0.000-1.000,-2.000 1.000,1.000 0.000,1.000 0.000,0.000 0.000,3.000 0.000,1.000 0.000,-6.000 0.000,4.000 0.000,-1.000 0.000,2.000-3.000,-5.000-3.000,8.000 2.000,-8.000-3.000,7.000 3.000,-10.000-2.000,6.000 2.000,1.000 1.000,2.000 1.000,-5.000 0.000,27.000 2.000,2.000 0.000,2.000 0.000,6.000 0.000,-1.000 0.000,2.000-1.000,2.000 1.000,-13.000 0.000,24.000 0.000,7.000 0.000,0.000 0.000,-2.000 0.000,-15.000 0.000,-2.000 0.000,2.000 0.000,-2.000 0.000,3.000 0.000,-4.000 0.000,-5.000 0.000,-5.000-1.000,3.000 0.000,-15.000-10.000,-1.000 0.000,-11.000 9.000,-4.000 1.000,6.000 1.000,-2.000-1.000,-4.000 1.000,0.000 0.000,2.000 0.000,0.000 0.000,-3.000 0.000,0.000 0.000,-4.000 0.000,1.000 0.000,1.000 0.000,2.000 0.000,4.000 0.000,3.000 0.000,-2.000 0.000,23.000 1.000,0.000-1.000,10.000 0.000,-3.000 0.000,4.000-1.000,4.000 1.000,-2.000 0.000,1.000 0.000,-6.000 0.000,1.000 0.000,6.000 0.000,2.000 0.000,-4.000 0.000,-1.000 0.000,7.000 0.000,-4.000 0.000,-2.000 0.000,-3.000 0.000,-3.000 0.000,0.000 0.000,-2.000 0.000,-1.000 0.000,3.000 0.000,1.000 0.000,-6.000 0.000,2.000 0.000,1.000 0.000,-1.000 0.000,0.000 0.000,-1.000 0.000,3.000 0.000,-4.000 0.000,1.000 0.000,4.000 0.000,1.000 0.000,-2.000 0.000,1.000 0.000,1.000 0.000,1.000 0.000,5.000 0.000,0.000 0.000,-6.000 0.000,1.000 0.000,2.000 0.000,0.000 0.000,-3.000 0.000,0.000 0.000,-1.000 0.000,0.000 0.000,3.000 0.000,-1.000 0.000,0.000 0.000,-1.000 0.000,-2.000 0.000,0.000 0.000,5.000 0.000,-1.000 0.000,-3.000 1.000,-1.000-1.000,0.000 1.000,1.000 1.000,0.000 0.000,-1.000 0.000,-1.000-1.000,0.000 1.000,-5.000-1.000,4.000 0.000,2.000-1.000,1.000 1.000,-1.000-1.000,1.000 1.000,-4.000-1.000,1.000 0.000,5.000 0.000,3.000 0.000,-6.000 0.000,1.000 0.000,7.000 0.000,1.000 0.000,2.000 0.000,0.000 0.000,1.000 0.000,-3.000 0.000,-3.000 0.000,-4.000 0.000,-3.000 0.000,-2.000 0.000,5.000 0.000,-5.000 0.000,0.000 1.000,-3.000 0.000,0.000 0.000,2.000 0.000,1.000 0.000,1.000 1.000,1.000-1.000,-1.000 0.000,1.000 0.000,-2.000 0.000,0.000 0.000,0.000-1.000,1.000 1.000,4.000-1.000,-1.000 1.000,-4.000-1.000,0.000 0.000,2.000 0.000,1.000 0.000,-3.000 0.000,1.000 0.000,2.000 0.000,0.000 0.000,1.000 0.000,0.000 0.000,-1.000 0.000,-1.000 0.000,5.000 0.000,0.000 0.000,-6.000 0.000,0.000 0.000,-3.000 0.000,1.000 0.000,1.000-1.000,0.000 1.000,4.000 0.000,0.000 0.000,0.000 0.000,-5.000 0.000,0.000 0.000,-2.000 1.000,13.000 2.000,-8.000 0.000,-5.000-1.000,1.000 0.000,6.000 2.000,0.000-1.000,-3.000-1.000,-1.000 0.000,3.000 0.000,0.000-1.000,4.000 1.000,-1.000-1.000,1.000 0.000,-6.000-1.000,-1.000 0.000,1.000 0.000,-1.000 1.000,7.000-1.000,-3.000-1.000,-3.000 1.000,-2.000 0.000,2.000 0.000,-4.000 0.000,1.000 0.000,3.000 0.000,1.000 0.000,0.000 0.000,4.000 0.000,-3.000 0.000,0.000 0.000,-1.000 0.000,-2.000 0.000,-2.000 0.000,5.000 0.000,-5.000 0.000,1.000 0.000,-2.000 5.000,1.000 0.000,5.000 0.000,-5.000-3.000,0.000 0.000,-1.000 0.000,9.000 0.000,-5.000-1.000,1.000 0.000,2.000 0.000,-1.000-1.000,4.000 1.000,-3.000-1.000,-3.000 0.000,-4.000 0.000,3.000 0.000,-24.000 0.000,0.000 5.000,-2.000 2.000,0.000-2.000,-3.000 1.000,-3.000 1.000,8.000-3.000,-2.000 0.000,1.000 0.000,0.000-1.000,1.000 0.000,-8.000 3.000,-3.000 0.000,10.000-3.000,0.000-1.000,-5.000 2.000,1.000 2.000,4.000-2.000,2.000 0.000,-3.000 1.000,-5.000 4.000,8.000-3.000,0.000 0.000,0.000 0.000,-6.000 3.000,1.000 0.000,-2.000 0.000,3.000-3.000,0.000 1.000,-3.000-1.000,-1.000-1.000,2.000 0.000,0.000-1.000,-2.000 0.000,-1.000 0.000,-4.000 0.000,3.000-1.000,4.000 0.000,3.000-1.000,-3.000-1.000,27.000-2.000,0.000 1.000,8.000 0.000,-3.000 0.000,2.000 0.000,-1.000 0.000,-2.000 0.000,0.000 0.000,-3.000 0.000,1.000 0.000,5.000 0.000,0.000 0.000,6.000 1.000,-2.000-1.000,-2.000 0.000,-3.000 0.000,-5.000 0.000,-2.000 0.000,1.000 0.000,-23.000 0.000,1.000 0.000,0.000 0.000,-3.000 0.000,0.000 0.000,-4.000 0.000,0.000 0.000,-2.000 0.000,-3.000 0.000,3.000 0.000,-3.000 0.000,-3.000 0.000,-2.000 0.000,-11.000 0.000,-1.000 0.000,10.000 0.000,1.000 0.000,5.000 0.000,0.000 0.000,-6.000-1.000,0.000 0.000,-4.000-1.000,0.000 0.000,7.000-1.000,0.000 0.000,3.000 0.000,0.000 0.000,-9.000-1.000,-1.000 0.000,0.000 1.000,-1.000-1.000,5.000 2.000,-2.000 0.000,-4.000 0.000,0.000 0.000,5.000 1.000,0.000 1.000,-13.000-1.000,4.000 0.000,5.000 1.000,11.000 0.000,3.000 0.000,0.000 0.000,4.000 0.000,3.000 1.000,-1.000-2.000,-7.000-1.000,6.000-1.000,3.000 2.000,0.000 0.000,-2.000 0.000,-2.000 0.000,2.000 0.000,-2.000 0.000,-8.000 0.000,-2.000 1.000,8.000 0.000,1.000-1.000,-5.000 1.000,1.000 0.000,0.000 0.000,0.000 0.000,-6.000 0.000,2.000-1.000,3.000 1.000,3.000-2.000,2.000 1.000,-2.000-1.000,8.000 0.000,1.000 1.000,-3.000 0.000,3.000 0.000,0.000 0.000,0.000 0.000,-12.000 0.000,9.000 1.000,0.000 0.000,3.000 0.000,-2.000 0.000,-6.000 0.000,-2.000 0.000,-1.000 0.000,1.000 0.000,7.000 0.000,0.000 0.000,-3.000 0.000,-1.000 0.000,-1.000 0.000,0.000 0.000,-3.000 0.000,3.000 0.000,2.000 0.000,2.000 0.000,3.000 0.000,-4.000 1.000,-3.000-1.000,7.000 0.000,-1.000 0.000,1.000 0.000,-1.000 0.000,-3.000 0.000,-1.000 0.000,2.000 0.000,1.000 0.000,-2.000 0.000,0.000 0.000,2.000 0.000,0.000 0.000,-2.000 0.000,0.000 0.000,-4.000 0.000,1.000 0.000,1.000 0.000,5.000-1.000,0.000 1.000,2.000 0.000,-10.000 0.000,8.000 0.000,-2.000 0.000,0.000 0.000,0.000 0.000,3.000 0.000,0.000 0.000,-7.000 0.000,5.000 0.000,1.000 0.000,0.000 0.000,0.000 0.000,-1.000 0.000,-1.000 0.000,3.000 0.000,-11.000 0.000,11.000 0.000,-5.000 0.000,1.000 0.000,3.000 0.000,0.000 0.000,0.000 0.000,0.000 0.000,-2.000 0.000,1.000 0.000,2.000 0.000,-7.000 0.000,4.000 0.000,4.000 0.000,20.000 0.000,7.000 0.000,-4.000 0.000,1.000 0.000,-1.000 0.000,1.000 0.000,15.000 0.000,7.000 0.000,-13.000 0.000,2.000 0.000,12.000 0.000,4.000 0.000,2.000 0.000,1.000-1.000,-4.000 0.000,-1.000-1.000,0.000 0.000,-2.000-2.000,2.000 0.000,-3.000 0.000,3.000-1.000,-5.000 0.000,-5.000 1.000,-13.000 2.000,-1.000 0.000,1.000-1.000,-2.000 0.000,-1.000 0.000,-1.000 0.000,0.000 1.000,0.000-1.000,-1.000 1.000,1.000 0.000,3.000-1.000,3.000 1.000,0.000 0.000,2.000 1.000,3.000 0.000,2.000 0.000,9.000 0.000,2.000 0.000,4.000 0.000,1.000 1.000,-5.000 0.000,0.000 0.000,13.000 0.000,-5.000 0.000,-5.000 0.000,-11.000 0.000,-3.000 0.000,-6.000 0.000,-1.000 0.000,0.000 0.000,-3.000 0.000,-3.000 0.000,1.000 0.000,-1.000 0.000,0.000 0.000,2.000 0.000,0.000 0.000,7.000 1.000,-2.000-1.000,1.000 0.000,-1.000 0.000,1.000 0.000,-5.000 0.000,-1.000 0.000,1.000 0.000,-1.000 0.000,1.000 0.000,1.000 0.000,4.000 0.000,1.000 0.000,-8.000 0.000,1.000 0.000,4.000 0.000,-1.000 0.000,3.000 0.000,-2.000 0.000,-2.000-1.000,2.000 1.000,0.000 0.000,-3.000 0.000,-1.000 0.000,0.000 0.000,-3.000 0.000,0.000 0.000,3.000 0.000,0.000 0.000,2.000 0.000,-4.000 0.000,0.000 0.000,0.000 0.000,2.000 0.000,1.000 0.000,1.000 0.000,-1.000 0.000,1.000 0.000,-5.000 0.000,1.000 0.000,2.000 0.000,0.000 0.000,0.000 0.000,-1.000 0.000,6.000 0.000,0.000 0.000,-1.000 0.000,-2.000 0.000,-2.000 0.000,0.000 0.000,-2.000 0.000,1.000 0.000,-2.000 0.000,0.000 0.000,0.000 0.000,1.000 0.000,4.000 0.000,0.000 0.000,-1.000 0.000,-3.000 0.000,0.000 0.000,-1.000 0.000,0.000 0.000,2.000 0.000,-1.000 0.000,-1.000 0.000,0.000 0.000,0.000 0.000,0.000 0.000,4.000 0.000,1.000 0.000,-2.000 0.000,0.000 0.000,-2.000 0.000,0.000 0.000,4.000 0.000,-2.000 0.000,-1.000 0.000,1.000 0.000,1.000 0.000,4.000 0.000,-6.000 0.000,0.000 0.000,0.000 0.000,0.000 0.000,-1.000 0.000,1.000 0.000,-2.000 0.000,6.000 0.000,-4.000 0.000,0.000 0.000,1.000 0.000,7.000 0.000,-7.000 0.000,-3.000 0.000,9.000 0.000,-8.000 0.000,-1.000 0.000,0.000 0.000,6.000 0.000,-5.000 0.000,-25.000-2.000,0.000-3.000,3.000 2.000,-10.000-1.000,-1.000 1.000,-3.000 0.000,-3.000 1.000,-4.000 0.000,-1.000 1.000,12.000 0.000,0.000 0.000,-10.000 1.000,-2.000-1.000,3.000 1.000,-2.000 0.000,-10.000-1.000,-1.000 1.000,10.000 1.000,0.000-1.000,-4.000 0.000,2.000 0.000,6.000 0.000,1.000 0.000,-1.000 0.000,1.000 0.000,8.000 0.000,1.000 0.000,-9.000 0.000,0.000 0.000,10.000 0.000,-1.000 0.000,-14.000 0.000,0.000 1.000,0.000-1.000,6.000 0.000,5.000 0.000,-22.000 0.000,-1.000 0.000,1.000 0.000,17.000 0.000,0.000 0.000,-2.000 0.000,2.000 0.000,4.000 0.000,1.000 0.000,2.000 0.000,0.000 0.000,-5.000 0.000,1.000 0.000,6.000 0.000,0.000-1.000,4.000 1.000,-1.000 0.000,-4.000 0.000,0.000 0.000,-2.000 0.000,1.000 0.000,7.000 0.000,0.000 0.000,-5.000 0.000,-1.000 0.000,0.000 0.000,0.000 0.000,2.000 0.000,-1.000 0.000,-10.000 0.000,0.000 0.000,0.000 0.000,5.000 0.000,0.000 0.000,0.000 0.000,-2.000 0.000,3.000 0.000,1.000 0.000,0.000 0.000,0.000 0.000,-2.000 0.000,-1.000 0.000,1.000 0.000,0.000 0.000,7.000 0.000,0.000 0.000,-6.000 0.000,0.000 0.000,3.000 0.000,1.000 0.000,-3.000 0.000,1.000-1.000,2.000 0.000,2.000 0.000,-2.000 0.000,1.000-1.000,-1.000 0.000,2.000 1.000,2.000 0.000,2.000 0.000,-6.000-1.000,7.000 1.000,23.000 1.000,-2.000 0.000,1.000 1.000,5.000 3.000,-4.000-1.000,8.000 1.000,8.000 0.000,9.000 0.000,8.000 1.000,-7.000-2.000,5.000-1.000,47.000 2.000,6.000-1.000,1.000 0.000,-60.000-3.000,23.000 1.000,2.000 0.000,15.000 0.000,2.000-1.000,1.000 1.000,-1.000-1.000,9.000 0.000,-5.000 0.000,-14.000 0.000,-6.000 0.000,-6.000 0.000,-5.000 0.000,13.000-1.000,-13.000 1.000,-11.000 0.000,-12.000 0.000,-8.000 0.000,-5.000 0.000,2.000 0.000,-8.000 0.000,1.000-1.000,7.000 1.000,-8.000 0.000,2.000 0.000,9.000 0.000,5.000 0.000,4.000 0.000,-6.000 0.000,0.000 0.000,0.000 0.000,-2.000 0.000,-2.000 0.000,-1.000 0.000,2.000 0.000,-1.000 0.000,-2.000 0.000,-1.000 0.000,-4.000 1.000,0.000-1.000,3.000 0.000,-2.000 0.000,-2.000 0.000,-1.000 0.000,5.000 0.000,-1.000 0.000,4.000 0.000,-7.000 0.000,4.000 0.000,-6.000 0.000,0.000 0.000,0.000 0.000,5.000 0.000,-1.000 0.000,1.000 0.000,-2.000 0.000,-1.000 0.000,0.000 0.000,-1.000 0.000,4.000 0.000,-3.000 0.000,-2.000 0.000,0.000 0.000,0.000 0.000,0.000 0.000,-3.000-8.000,-7.000-3.000,-3.000-2.000,-4.000 2.000,3.000-1.000,2.000 1.000,-3.000 1.000,0.000-2.000,2.000 0.000,8.000 1.000,6.000 4.000,0.000 2.000,3.000-1.000,-4.000 3.000,7.000-2.000,-5.000 3.000,-2.000 1.000,1.000 2.000,1.000-1.000,-2.000 4.000,-4.000 4.000,0.000 4.000,-1.000-1.000,0.000 1.000,0.000 1.000,0.000-2.000,0.000 0.000,0.000-1.000,2.000-1.000,-2.000-1.000,5.000 5.000,-4.000-3.000,-3.000 1.000,-2.000 2.000,-2.000 0.000,1.000-3.000,0.000 2.000,0.000 0.000,-1.000 4.000,1.000-2.000,0.000-2.000,0.000 0.000,0.000 0.000,1.000-2.000,-1.000 1.000,0.000-1.000,-1.000 3.000,0.000-3.000,-5.000 0.000,-6.000-9.000,-1.000-2.000,0.000-7.000,4.000-2.000,-2.000-1.000,-1.000 0.000,-1.000 2.000,-3.000-3.000,4.000 4.000,-1.000 0.000,3.000 3.000,1.000-1.000,-5.000-2.000,0.000 1.000,1.000 1.000,0.000 1.000,2.000 1.000,-7.000-3.000,5.000 1.000,3.000-2.000,3.000-1.000,16.000 4.000,1.000 5.000,3.000 0.000,-1.000 1.000,2.000-1.000,3.000 0.000,-1.000 0.000,1.000 0.000,3.000 0.000,0.000 0.000,-1.000 0.000,4.000 0.000,-1.000 0.000,-9.000 0.000,-1.000 0.000,7.000-1.000,-3.000 1.000,-3.000 0.000,3.000-2.000,-7.000-3.000,-13.000-5.000,-1.000 0.000,-15.000 2.000,5.000 3.000,0.000 0.000,-5.000 0.000,4.000 2.000,-3.000 0.000,-5.000 0.000,-3.000 0.000,2.000 1.000,-1.000 0.000,-5.000 0.000,-1.000 1.000,-6.000 0.000,0.000-1.000,3.000 1.000,2.000-1.000,1.000-1.000,11.000 1.000,1.000 0.000,-9.000-1.000,2.000 0.000,-1.000 1.000,3.000-1.000,5.000 1.000,4.000 1.000,4.000 0.000,-3.000 0.000,4.000 1.000,-1.000 1.000,-1.000-1.000,-10.000 1.000,6.000 0.000,-4.000 1.000,-8.000 2.000,-5.000 0.000,4.000 1.000,-2.000 0.000,-9.000 3.000,-3.000 1.000,-1.000 0.000,-2.000 1.000,7.000-1.000,1.000 0.000,2.000 0.000,1.000 0.000,-6.000 1.000,3.000-1.000,4.000-1.000,3.000-1.000,5.000-2.000,9.000-2.000,0.000-1.000,-3.000 0.000,2.000 0.000,5.000-1.000,0.000-1.000,-3.000 0.000,1.000 0.000,-5.000 0.000,2.000 0.000,0.000-1.000,-4.000 2.000,-1.000 0.000,1.000 0.000,7.000 0.000,0.000 0.000,0.000 0.000,-1.000 0.000,1.000 0.000,-2.000 0.000,-2.000 0.000,-1.000-1.000,0.000 1.000,-1.000-1.000,-4.000 0.000,2.000 1.000,1.000-1.000,9.000 0.000,-1.000 0.000,1.000 0.000,-1.000 0.000,-4.000 0.000,0.000 0.000,5.000 0.000,0.000 0.000,0.000 0.000,1.000 0.000,-3.000 0.000,1.000 0.000,-1.000 0.000,1.000 0.000,1.000-1.000,1.000 1.000,-2.000-2.000,0.000-1.000,0.000-1.000,-1.000-1.000,2.000 1.000,-1.000 1.000,-8.000-2.000,0.000 0.000,1.000 1.000,3.000 2.000,3.000 0.000,0.000 0.000,-8.000 1.000,11.000 0.000,1.000 1.000,-5.000 0.000,-2.000 0.000,3.000 1.000,3.000-1.000,2.000 0.000,-2.000 1.000,-5.000-2.000,-6.000-1.000,7.000 0.000,0.000 0.000,5.000 1.000,1.000 0.000,-2.000 0.000,1.000 0.000,-3.000-1.000,3.000 2.000,-5.000-1.000,6.000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smtClean="0"/>
              <a:t>Click to edit Master text styles</a:t>
            </a:r>
            <a:endParaRPr lang="en-US" b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smtClean="0"/>
              <a:t>Click to edit Master text styles</a:t>
            </a:r>
            <a:endParaRPr lang="en-US" b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9.xml"/><Relationship Id="rId26" Type="http://schemas.openxmlformats.org/officeDocument/2006/relationships/slideLayout" Target="../slideLayouts/slideLayout14.xml"/><Relationship Id="rId25" Type="http://schemas.openxmlformats.org/officeDocument/2006/relationships/image" Target="../media/image7.pn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72c08e50b10d5c7e1b1ac950bff802d6538b8639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78" b="78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EFF6FF">
                  <a:alpha val="80000"/>
                </a:srgbClr>
              </a:gs>
            </a:gsLst>
            <a:lin ang="2700000" scaled="1"/>
            <a:tileRect/>
          </a:gradFill>
        </p:spPr>
      </p:sp>
      <p:sp>
        <p:nvSpPr>
          <p:cNvPr id="4" name="Shape 1"/>
          <p:cNvSpPr/>
          <p:nvPr/>
        </p:nvSpPr>
        <p:spPr>
          <a:xfrm>
            <a:off x="400050" y="873443"/>
            <a:ext cx="2124075" cy="419100"/>
          </a:xfrm>
          <a:custGeom>
            <a:avLst/>
            <a:gdLst/>
            <a:ahLst/>
            <a:cxnLst/>
            <a:rect l="l" t="t" r="r" b="b"/>
            <a:pathLst>
              <a:path w="2124075" h="419100">
                <a:moveTo>
                  <a:pt x="0" y="0"/>
                </a:moveTo>
                <a:lnTo>
                  <a:pt x="2124075" y="0"/>
                </a:lnTo>
                <a:lnTo>
                  <a:pt x="21240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00050" y="87344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3"/>
          <p:cNvSpPr/>
          <p:nvPr/>
        </p:nvSpPr>
        <p:spPr>
          <a:xfrm>
            <a:off x="571500" y="949642"/>
            <a:ext cx="1885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 kern="0" spc="68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本科毕业设计中期答辩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381000" y="1673542"/>
            <a:ext cx="1171575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EmoBi中期答辩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381000" y="254031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阶段成果与优化方案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381000" y="314991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7"/>
          <p:cNvSpPr/>
          <p:nvPr/>
        </p:nvSpPr>
        <p:spPr>
          <a:xfrm>
            <a:off x="381000" y="3416618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面向小参数模型的夸张与隐喻联合检测研究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400050" y="4026098"/>
            <a:ext cx="7296150" cy="571500"/>
          </a:xfrm>
          <a:custGeom>
            <a:avLst/>
            <a:gdLst/>
            <a:ahLst/>
            <a:cxnLst/>
            <a:rect l="l" t="t" r="r" b="b"/>
            <a:pathLst>
              <a:path w="7296150" h="571500">
                <a:moveTo>
                  <a:pt x="0" y="0"/>
                </a:moveTo>
                <a:lnTo>
                  <a:pt x="7296150" y="0"/>
                </a:lnTo>
                <a:lnTo>
                  <a:pt x="72961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400050" y="4026098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0"/>
          <p:cNvSpPr/>
          <p:nvPr/>
        </p:nvSpPr>
        <p:spPr>
          <a:xfrm>
            <a:off x="571500" y="4178498"/>
            <a:ext cx="705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本次汇报聚焦可复现证据链与下一阶段可验证优化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381000" y="5097780"/>
            <a:ext cx="11430000" cy="15240"/>
          </a:xfrm>
          <a:custGeom>
            <a:avLst/>
            <a:gdLst/>
            <a:ahLst/>
            <a:cxnLst/>
            <a:rect l="l" t="t" r="r" b="b"/>
            <a:pathLst>
              <a:path w="11430000" h="15240">
                <a:moveTo>
                  <a:pt x="0" y="0"/>
                </a:moveTo>
                <a:lnTo>
                  <a:pt x="11430000" y="0"/>
                </a:lnTo>
                <a:lnTo>
                  <a:pt x="114300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2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81000" y="52578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381000" y="55245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魏自翔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4267200" y="52578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学号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4267200" y="55245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22009200873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8153400" y="52578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指导教师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8153400" y="5524500"/>
            <a:ext cx="3733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王皓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381000" y="59817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学院 · 专业 · 日期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381000" y="62484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网络与信息安全学院 · </a:t>
            </a:r>
            <a:r>
              <a:rPr lang="zh-CN" alt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网络工程</a:t>
            </a: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专业 ·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40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85217" y="381000"/>
            <a:ext cx="2143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研究背景与意义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404813" y="102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19125" y="9906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问题背景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81000" y="1371600"/>
            <a:ext cx="5695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社交媒体中</a:t>
            </a: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夸张与隐喻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普遍存在，影响情绪理解、舆情判断、机器翻译与内容审核。传统方法偏字面语义，难捕捉"本体-喻体"映射与情感强度递进，导致误判。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381000" y="1981200"/>
            <a:ext cx="1819275" cy="647700"/>
          </a:xfrm>
          <a:custGeom>
            <a:avLst/>
            <a:gdLst/>
            <a:ahLst/>
            <a:cxnLst/>
            <a:rect l="l" t="t" r="r" b="b"/>
            <a:pathLst>
              <a:path w="1819275" h="647700">
                <a:moveTo>
                  <a:pt x="38098" y="0"/>
                </a:moveTo>
                <a:lnTo>
                  <a:pt x="1781177" y="0"/>
                </a:lnTo>
                <a:cubicBezTo>
                  <a:pt x="1802204" y="0"/>
                  <a:pt x="1819275" y="17071"/>
                  <a:pt x="1819275" y="38098"/>
                </a:cubicBezTo>
                <a:lnTo>
                  <a:pt x="1819275" y="609602"/>
                </a:lnTo>
                <a:cubicBezTo>
                  <a:pt x="1819275" y="630643"/>
                  <a:pt x="1802218" y="647700"/>
                  <a:pt x="17811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9" name="Shape 7"/>
          <p:cNvSpPr/>
          <p:nvPr/>
        </p:nvSpPr>
        <p:spPr>
          <a:xfrm>
            <a:off x="1196935" y="209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461963" y="2324100"/>
            <a:ext cx="1657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情绪理解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2279571" y="1981200"/>
            <a:ext cx="1819275" cy="647700"/>
          </a:xfrm>
          <a:custGeom>
            <a:avLst/>
            <a:gdLst/>
            <a:ahLst/>
            <a:cxnLst/>
            <a:rect l="l" t="t" r="r" b="b"/>
            <a:pathLst>
              <a:path w="1819275" h="647700">
                <a:moveTo>
                  <a:pt x="38098" y="0"/>
                </a:moveTo>
                <a:lnTo>
                  <a:pt x="1781177" y="0"/>
                </a:lnTo>
                <a:cubicBezTo>
                  <a:pt x="1802204" y="0"/>
                  <a:pt x="1819275" y="17071"/>
                  <a:pt x="1819275" y="38098"/>
                </a:cubicBezTo>
                <a:lnTo>
                  <a:pt x="1819275" y="609602"/>
                </a:lnTo>
                <a:cubicBezTo>
                  <a:pt x="1819275" y="630643"/>
                  <a:pt x="1802218" y="647700"/>
                  <a:pt x="17811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2" name="Shape 10"/>
          <p:cNvSpPr/>
          <p:nvPr/>
        </p:nvSpPr>
        <p:spPr>
          <a:xfrm>
            <a:off x="3095506" y="209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2360533" y="2324100"/>
            <a:ext cx="1657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舆情判断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178260" y="1981200"/>
            <a:ext cx="1819275" cy="647700"/>
          </a:xfrm>
          <a:custGeom>
            <a:avLst/>
            <a:gdLst/>
            <a:ahLst/>
            <a:cxnLst/>
            <a:rect l="l" t="t" r="r" b="b"/>
            <a:pathLst>
              <a:path w="1819275" h="647700">
                <a:moveTo>
                  <a:pt x="38098" y="0"/>
                </a:moveTo>
                <a:lnTo>
                  <a:pt x="1781177" y="0"/>
                </a:lnTo>
                <a:cubicBezTo>
                  <a:pt x="1802204" y="0"/>
                  <a:pt x="1819275" y="17071"/>
                  <a:pt x="1819275" y="38098"/>
                </a:cubicBezTo>
                <a:lnTo>
                  <a:pt x="1819275" y="609602"/>
                </a:lnTo>
                <a:cubicBezTo>
                  <a:pt x="1819275" y="630643"/>
                  <a:pt x="1802218" y="647700"/>
                  <a:pt x="17811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5" name="Shape 13"/>
          <p:cNvSpPr/>
          <p:nvPr/>
        </p:nvSpPr>
        <p:spPr>
          <a:xfrm>
            <a:off x="4994196" y="209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4259223" y="2324100"/>
            <a:ext cx="1657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内容审核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04813" y="2819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619125" y="27813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国内外研究现状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381000" y="31623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09600" y="3162300"/>
            <a:ext cx="3371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MUStARD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(Castro 2019)：引入多模态讽刺检测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381000" y="3467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09600" y="3467100"/>
            <a:ext cx="2543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Lai 2023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：夸张与隐喻联合检测框架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381000" y="3771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609600" y="37719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Liang 2024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：图对比学习增强语义关联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381000" y="4076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09600" y="4076700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Liu 2024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：多视图交互建模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381000" y="43815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609600" y="4381500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Hu 2025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：情感知识增强表示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6203156" y="1028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Text 28"/>
          <p:cNvSpPr/>
          <p:nvPr/>
        </p:nvSpPr>
        <p:spPr>
          <a:xfrm>
            <a:off x="6429375" y="9906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发展趋势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6210300" y="1371600"/>
            <a:ext cx="5600700" cy="685800"/>
          </a:xfrm>
          <a:custGeom>
            <a:avLst/>
            <a:gdLst/>
            <a:ahLst/>
            <a:cxnLst/>
            <a:rect l="l" t="t" r="r" b="b"/>
            <a:pathLst>
              <a:path w="5600700" h="685800">
                <a:moveTo>
                  <a:pt x="38100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609601"/>
                </a:lnTo>
                <a:cubicBezTo>
                  <a:pt x="5600700" y="651684"/>
                  <a:pt x="5566584" y="685800"/>
                  <a:pt x="5524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32" name="Shape 30"/>
          <p:cNvSpPr/>
          <p:nvPr/>
        </p:nvSpPr>
        <p:spPr>
          <a:xfrm>
            <a:off x="6210300" y="1371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Shape 31"/>
          <p:cNvSpPr/>
          <p:nvPr/>
        </p:nvSpPr>
        <p:spPr>
          <a:xfrm>
            <a:off x="6343650" y="14859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190500"/>
                </a:lnTo>
                <a:cubicBezTo>
                  <a:pt x="209550" y="211542"/>
                  <a:pt x="192492" y="228600"/>
                  <a:pt x="17145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Text 32"/>
          <p:cNvSpPr/>
          <p:nvPr/>
        </p:nvSpPr>
        <p:spPr>
          <a:xfrm>
            <a:off x="6343650" y="1485900"/>
            <a:ext cx="26670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625590" y="14859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从静态融合向动态交互演进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6343650" y="1752600"/>
            <a:ext cx="541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引入外部知识图谱（ConceptNet等）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6210300" y="2171700"/>
            <a:ext cx="5600700" cy="685800"/>
          </a:xfrm>
          <a:custGeom>
            <a:avLst/>
            <a:gdLst/>
            <a:ahLst/>
            <a:cxnLst/>
            <a:rect l="l" t="t" r="r" b="b"/>
            <a:pathLst>
              <a:path w="5600700" h="685800">
                <a:moveTo>
                  <a:pt x="38100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609601"/>
                </a:lnTo>
                <a:cubicBezTo>
                  <a:pt x="5600700" y="651684"/>
                  <a:pt x="5566584" y="685800"/>
                  <a:pt x="5524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38" name="Shape 36"/>
          <p:cNvSpPr/>
          <p:nvPr/>
        </p:nvSpPr>
        <p:spPr>
          <a:xfrm>
            <a:off x="6210300" y="2171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Shape 37"/>
          <p:cNvSpPr/>
          <p:nvPr/>
        </p:nvSpPr>
        <p:spPr>
          <a:xfrm>
            <a:off x="6343650" y="2286000"/>
            <a:ext cx="219075" cy="228600"/>
          </a:xfrm>
          <a:custGeom>
            <a:avLst/>
            <a:gdLst/>
            <a:ahLst/>
            <a:cxnLst/>
            <a:rect l="l" t="t" r="r" b="b"/>
            <a:pathLst>
              <a:path w="219075" h="228600">
                <a:moveTo>
                  <a:pt x="38099" y="0"/>
                </a:moveTo>
                <a:lnTo>
                  <a:pt x="180976" y="0"/>
                </a:lnTo>
                <a:cubicBezTo>
                  <a:pt x="202017" y="0"/>
                  <a:pt x="219075" y="17058"/>
                  <a:pt x="219075" y="38099"/>
                </a:cubicBezTo>
                <a:lnTo>
                  <a:pt x="219075" y="190501"/>
                </a:lnTo>
                <a:cubicBezTo>
                  <a:pt x="219075" y="211542"/>
                  <a:pt x="202017" y="228600"/>
                  <a:pt x="180976" y="228600"/>
                </a:cubicBezTo>
                <a:lnTo>
                  <a:pt x="38099" y="228600"/>
                </a:lnTo>
                <a:cubicBezTo>
                  <a:pt x="17058" y="228600"/>
                  <a:pt x="0" y="211542"/>
                  <a:pt x="0" y="1905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0" name="Text 38"/>
          <p:cNvSpPr/>
          <p:nvPr/>
        </p:nvSpPr>
        <p:spPr>
          <a:xfrm>
            <a:off x="6343650" y="2286000"/>
            <a:ext cx="2762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6640235" y="22860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端侧小参数部署成为现实需求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6343650" y="2552700"/>
            <a:ext cx="541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3B级模型在资源受限场景的应用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6210300" y="2971800"/>
            <a:ext cx="5600700" cy="685800"/>
          </a:xfrm>
          <a:custGeom>
            <a:avLst/>
            <a:gdLst/>
            <a:ahLst/>
            <a:cxnLst/>
            <a:rect l="l" t="t" r="r" b="b"/>
            <a:pathLst>
              <a:path w="5600700" h="685800">
                <a:moveTo>
                  <a:pt x="38100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609601"/>
                </a:lnTo>
                <a:cubicBezTo>
                  <a:pt x="5600700" y="651684"/>
                  <a:pt x="5566584" y="685800"/>
                  <a:pt x="5524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44" name="Shape 42"/>
          <p:cNvSpPr/>
          <p:nvPr/>
        </p:nvSpPr>
        <p:spPr>
          <a:xfrm>
            <a:off x="6210300" y="29718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5" name="Shape 43"/>
          <p:cNvSpPr/>
          <p:nvPr/>
        </p:nvSpPr>
        <p:spPr>
          <a:xfrm>
            <a:off x="6343650" y="3086100"/>
            <a:ext cx="219075" cy="228600"/>
          </a:xfrm>
          <a:custGeom>
            <a:avLst/>
            <a:gdLst/>
            <a:ahLst/>
            <a:cxnLst/>
            <a:rect l="l" t="t" r="r" b="b"/>
            <a:pathLst>
              <a:path w="219075" h="228600">
                <a:moveTo>
                  <a:pt x="38099" y="0"/>
                </a:moveTo>
                <a:lnTo>
                  <a:pt x="180976" y="0"/>
                </a:lnTo>
                <a:cubicBezTo>
                  <a:pt x="202017" y="0"/>
                  <a:pt x="219075" y="17058"/>
                  <a:pt x="219075" y="38099"/>
                </a:cubicBezTo>
                <a:lnTo>
                  <a:pt x="219075" y="190501"/>
                </a:lnTo>
                <a:cubicBezTo>
                  <a:pt x="219075" y="211542"/>
                  <a:pt x="202017" y="228600"/>
                  <a:pt x="180976" y="228600"/>
                </a:cubicBezTo>
                <a:lnTo>
                  <a:pt x="38099" y="228600"/>
                </a:lnTo>
                <a:cubicBezTo>
                  <a:pt x="17058" y="228600"/>
                  <a:pt x="0" y="211542"/>
                  <a:pt x="0" y="1905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6" name="Text 44"/>
          <p:cNvSpPr/>
          <p:nvPr/>
        </p:nvSpPr>
        <p:spPr>
          <a:xfrm>
            <a:off x="6343650" y="3086100"/>
            <a:ext cx="2762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6640116" y="30861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可解释性与鲁棒性并重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6343650" y="3352800"/>
            <a:ext cx="541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推理过程透明化与异常处理机制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6210300" y="3810000"/>
            <a:ext cx="5600700" cy="1390650"/>
          </a:xfrm>
          <a:custGeom>
            <a:avLst/>
            <a:gdLst/>
            <a:ahLst/>
            <a:cxnLst/>
            <a:rect l="l" t="t" r="r" b="b"/>
            <a:pathLst>
              <a:path w="5600700" h="1390650">
                <a:moveTo>
                  <a:pt x="38100" y="0"/>
                </a:moveTo>
                <a:lnTo>
                  <a:pt x="5562596" y="0"/>
                </a:lnTo>
                <a:cubicBezTo>
                  <a:pt x="5583640" y="0"/>
                  <a:pt x="5600700" y="17060"/>
                  <a:pt x="5600700" y="38104"/>
                </a:cubicBezTo>
                <a:lnTo>
                  <a:pt x="5600700" y="1352546"/>
                </a:lnTo>
                <a:cubicBezTo>
                  <a:pt x="5600700" y="1373590"/>
                  <a:pt x="5583640" y="1390650"/>
                  <a:pt x="556259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210300" y="38100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1" name="Shape 49"/>
          <p:cNvSpPr/>
          <p:nvPr/>
        </p:nvSpPr>
        <p:spPr>
          <a:xfrm>
            <a:off x="6426994" y="4010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2" name="Text 50"/>
          <p:cNvSpPr/>
          <p:nvPr/>
        </p:nvSpPr>
        <p:spPr>
          <a:xfrm>
            <a:off x="6600825" y="39624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本课题意义</a:t>
            </a:r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6381750" y="4305300"/>
            <a:ext cx="53530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在算力受限条件下提升深层修辞识别与可解释性，服务网络安全与NLP应用。解决小参数模型在复杂修辞识别中的稳定性问题，实现工程落地与学术价值的统一。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>
          <a:xfrm>
            <a:off x="381000" y="57531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5" name="Shape 53"/>
          <p:cNvSpPr/>
          <p:nvPr/>
        </p:nvSpPr>
        <p:spPr>
          <a:xfrm>
            <a:off x="3599497" y="5905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704850" y="5867400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在小参数约束下解决"深层修辞识别"是兼具工程落地与学术价值的方向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314325" y="62865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428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10577" y="38100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研究问题与目标拆解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404813" y="102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19125" y="990600"/>
            <a:ext cx="665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五大核心问题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00050" y="1371600"/>
            <a:ext cx="3324225" cy="723900"/>
          </a:xfrm>
          <a:custGeom>
            <a:avLst/>
            <a:gdLst/>
            <a:ahLst/>
            <a:cxnLst/>
            <a:rect l="l" t="t" r="r" b="b"/>
            <a:pathLst>
              <a:path w="3324225" h="723900">
                <a:moveTo>
                  <a:pt x="38099" y="0"/>
                </a:moveTo>
                <a:lnTo>
                  <a:pt x="3286126" y="0"/>
                </a:lnTo>
                <a:cubicBezTo>
                  <a:pt x="3307153" y="0"/>
                  <a:pt x="3324225" y="17072"/>
                  <a:pt x="3324225" y="38099"/>
                </a:cubicBezTo>
                <a:lnTo>
                  <a:pt x="3324225" y="685801"/>
                </a:lnTo>
                <a:cubicBezTo>
                  <a:pt x="3324225" y="706828"/>
                  <a:pt x="3307153" y="723900"/>
                  <a:pt x="32861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8" name="Shape 6"/>
          <p:cNvSpPr/>
          <p:nvPr/>
        </p:nvSpPr>
        <p:spPr>
          <a:xfrm>
            <a:off x="400050" y="1371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533400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500063" y="148590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38200" y="14859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语义间接性强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33400" y="179070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字面特征不足以捕捉深层修辞含义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855720" y="1371600"/>
            <a:ext cx="3324225" cy="723900"/>
          </a:xfrm>
          <a:custGeom>
            <a:avLst/>
            <a:gdLst/>
            <a:ahLst/>
            <a:cxnLst/>
            <a:rect l="l" t="t" r="r" b="b"/>
            <a:pathLst>
              <a:path w="3324225" h="723900">
                <a:moveTo>
                  <a:pt x="38099" y="0"/>
                </a:moveTo>
                <a:lnTo>
                  <a:pt x="3286126" y="0"/>
                </a:lnTo>
                <a:cubicBezTo>
                  <a:pt x="3307153" y="0"/>
                  <a:pt x="3324225" y="17072"/>
                  <a:pt x="3324225" y="38099"/>
                </a:cubicBezTo>
                <a:lnTo>
                  <a:pt x="3324225" y="685801"/>
                </a:lnTo>
                <a:cubicBezTo>
                  <a:pt x="3324225" y="706828"/>
                  <a:pt x="3307153" y="723900"/>
                  <a:pt x="328612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4" name="Shape 12"/>
          <p:cNvSpPr/>
          <p:nvPr/>
        </p:nvSpPr>
        <p:spPr>
          <a:xfrm>
            <a:off x="3855720" y="13716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3989070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3955733" y="148590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293870" y="14859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情感知识缺失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989070" y="179070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夸张与真实描述易混淆，缺乏常识推理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00050" y="2209800"/>
            <a:ext cx="3324225" cy="914400"/>
          </a:xfrm>
          <a:custGeom>
            <a:avLst/>
            <a:gdLst/>
            <a:ahLst/>
            <a:cxnLst/>
            <a:rect l="l" t="t" r="r" b="b"/>
            <a:pathLst>
              <a:path w="3324225" h="914400">
                <a:moveTo>
                  <a:pt x="38100" y="0"/>
                </a:moveTo>
                <a:lnTo>
                  <a:pt x="3286122" y="0"/>
                </a:lnTo>
                <a:cubicBezTo>
                  <a:pt x="3307166" y="0"/>
                  <a:pt x="3324225" y="17059"/>
                  <a:pt x="3324225" y="38103"/>
                </a:cubicBezTo>
                <a:lnTo>
                  <a:pt x="3324225" y="876297"/>
                </a:lnTo>
                <a:cubicBezTo>
                  <a:pt x="3324225" y="897341"/>
                  <a:pt x="3307166" y="914400"/>
                  <a:pt x="328612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20" name="Shape 18"/>
          <p:cNvSpPr/>
          <p:nvPr/>
        </p:nvSpPr>
        <p:spPr>
          <a:xfrm>
            <a:off x="400050" y="2209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533400" y="232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500063" y="232410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38200" y="23241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动态关联不足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533400" y="262890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隐喻映射关系难以稳定建模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3855720" y="2209800"/>
            <a:ext cx="3324225" cy="914400"/>
          </a:xfrm>
          <a:custGeom>
            <a:avLst/>
            <a:gdLst/>
            <a:ahLst/>
            <a:cxnLst/>
            <a:rect l="l" t="t" r="r" b="b"/>
            <a:pathLst>
              <a:path w="3324225" h="914400">
                <a:moveTo>
                  <a:pt x="38100" y="0"/>
                </a:moveTo>
                <a:lnTo>
                  <a:pt x="3286122" y="0"/>
                </a:lnTo>
                <a:cubicBezTo>
                  <a:pt x="3307166" y="0"/>
                  <a:pt x="3324225" y="17059"/>
                  <a:pt x="3324225" y="38103"/>
                </a:cubicBezTo>
                <a:lnTo>
                  <a:pt x="3324225" y="876297"/>
                </a:lnTo>
                <a:cubicBezTo>
                  <a:pt x="3324225" y="897341"/>
                  <a:pt x="3307166" y="914400"/>
                  <a:pt x="3286122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26" name="Shape 24"/>
          <p:cNvSpPr/>
          <p:nvPr/>
        </p:nvSpPr>
        <p:spPr>
          <a:xfrm>
            <a:off x="3855720" y="2209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Shape 25"/>
          <p:cNvSpPr/>
          <p:nvPr/>
        </p:nvSpPr>
        <p:spPr>
          <a:xfrm>
            <a:off x="3989070" y="232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3955733" y="232410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4293870" y="2324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小模型敏感性问题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3989070" y="26289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3B模型对复杂Few-Shot/CoT敏感（Enhanced版崩溃）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400050" y="3238500"/>
            <a:ext cx="6781800" cy="723900"/>
          </a:xfrm>
          <a:custGeom>
            <a:avLst/>
            <a:gdLst/>
            <a:ahLst/>
            <a:cxnLst/>
            <a:rect l="l" t="t" r="r" b="b"/>
            <a:pathLst>
              <a:path w="6781800" h="723900">
                <a:moveTo>
                  <a:pt x="38099" y="0"/>
                </a:moveTo>
                <a:lnTo>
                  <a:pt x="6743701" y="0"/>
                </a:lnTo>
                <a:cubicBezTo>
                  <a:pt x="6764728" y="0"/>
                  <a:pt x="6781800" y="17072"/>
                  <a:pt x="6781800" y="38099"/>
                </a:cubicBezTo>
                <a:lnTo>
                  <a:pt x="6781800" y="685801"/>
                </a:lnTo>
                <a:cubicBezTo>
                  <a:pt x="6781800" y="706828"/>
                  <a:pt x="6764728" y="723900"/>
                  <a:pt x="67437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2" name="Shape 30"/>
          <p:cNvSpPr/>
          <p:nvPr/>
        </p:nvSpPr>
        <p:spPr>
          <a:xfrm>
            <a:off x="400050" y="32385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3" name="Shape 31"/>
          <p:cNvSpPr/>
          <p:nvPr/>
        </p:nvSpPr>
        <p:spPr>
          <a:xfrm>
            <a:off x="533400" y="3352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Text 32"/>
          <p:cNvSpPr/>
          <p:nvPr/>
        </p:nvSpPr>
        <p:spPr>
          <a:xfrm>
            <a:off x="500063" y="335280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838200" y="3352800"/>
            <a:ext cx="1857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Counterfactual误报问题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533400" y="3657600"/>
            <a:ext cx="6600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单独使用易将夸张误判为隐喻（Precision=</a:t>
            </a: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0.5357</a:t>
            </a: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）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404813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Text 36"/>
          <p:cNvSpPr/>
          <p:nvPr/>
        </p:nvSpPr>
        <p:spPr>
          <a:xfrm>
            <a:off x="619125" y="4076700"/>
            <a:ext cx="665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研究目标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381000" y="4457700"/>
            <a:ext cx="2190750" cy="1181100"/>
          </a:xfrm>
          <a:custGeom>
            <a:avLst/>
            <a:gdLst/>
            <a:ahLst/>
            <a:cxnLst/>
            <a:rect l="l" t="t" r="r" b="b"/>
            <a:pathLst>
              <a:path w="2190750" h="1181100">
                <a:moveTo>
                  <a:pt x="38102" y="0"/>
                </a:moveTo>
                <a:lnTo>
                  <a:pt x="2152648" y="0"/>
                </a:lnTo>
                <a:cubicBezTo>
                  <a:pt x="2173677" y="0"/>
                  <a:pt x="2190750" y="17073"/>
                  <a:pt x="2190750" y="38102"/>
                </a:cubicBezTo>
                <a:lnTo>
                  <a:pt x="2190750" y="1142998"/>
                </a:lnTo>
                <a:cubicBezTo>
                  <a:pt x="2190750" y="1164041"/>
                  <a:pt x="2173691" y="1181100"/>
                  <a:pt x="215264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40" name="Shape 38"/>
          <p:cNvSpPr/>
          <p:nvPr/>
        </p:nvSpPr>
        <p:spPr>
          <a:xfrm>
            <a:off x="1361361" y="457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Text 39"/>
          <p:cNvSpPr/>
          <p:nvPr/>
        </p:nvSpPr>
        <p:spPr>
          <a:xfrm>
            <a:off x="457200" y="4876800"/>
            <a:ext cx="2038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构建评估闭环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466725" y="5143500"/>
            <a:ext cx="2019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自动化指标计算与横向对比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2684740" y="4457700"/>
            <a:ext cx="2190750" cy="1181100"/>
          </a:xfrm>
          <a:custGeom>
            <a:avLst/>
            <a:gdLst/>
            <a:ahLst/>
            <a:cxnLst/>
            <a:rect l="l" t="t" r="r" b="b"/>
            <a:pathLst>
              <a:path w="2190750" h="1181100">
                <a:moveTo>
                  <a:pt x="38102" y="0"/>
                </a:moveTo>
                <a:lnTo>
                  <a:pt x="2152648" y="0"/>
                </a:lnTo>
                <a:cubicBezTo>
                  <a:pt x="2173677" y="0"/>
                  <a:pt x="2190750" y="17073"/>
                  <a:pt x="2190750" y="38102"/>
                </a:cubicBezTo>
                <a:lnTo>
                  <a:pt x="2190750" y="1142998"/>
                </a:lnTo>
                <a:cubicBezTo>
                  <a:pt x="2190750" y="1164041"/>
                  <a:pt x="2173691" y="1181100"/>
                  <a:pt x="215264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44" name="Shape 42"/>
          <p:cNvSpPr/>
          <p:nvPr/>
        </p:nvSpPr>
        <p:spPr>
          <a:xfrm>
            <a:off x="3665101" y="457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5" name="Text 43"/>
          <p:cNvSpPr/>
          <p:nvPr/>
        </p:nvSpPr>
        <p:spPr>
          <a:xfrm>
            <a:off x="2760940" y="4876800"/>
            <a:ext cx="2038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明确优化边界</a:t>
            </a:r>
            <a:endParaRPr lang="en-US" sz="1600"/>
          </a:p>
        </p:txBody>
      </p:sp>
      <p:sp>
        <p:nvSpPr>
          <p:cNvPr id="46" name="Text 44"/>
          <p:cNvSpPr/>
          <p:nvPr/>
        </p:nvSpPr>
        <p:spPr>
          <a:xfrm>
            <a:off x="2770465" y="5143500"/>
            <a:ext cx="2019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识别小模型能力边界与改进空间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4988481" y="4457700"/>
            <a:ext cx="2190750" cy="1181100"/>
          </a:xfrm>
          <a:custGeom>
            <a:avLst/>
            <a:gdLst/>
            <a:ahLst/>
            <a:cxnLst/>
            <a:rect l="l" t="t" r="r" b="b"/>
            <a:pathLst>
              <a:path w="2190750" h="1181100">
                <a:moveTo>
                  <a:pt x="38102" y="0"/>
                </a:moveTo>
                <a:lnTo>
                  <a:pt x="2152648" y="0"/>
                </a:lnTo>
                <a:cubicBezTo>
                  <a:pt x="2173677" y="0"/>
                  <a:pt x="2190750" y="17073"/>
                  <a:pt x="2190750" y="38102"/>
                </a:cubicBezTo>
                <a:lnTo>
                  <a:pt x="2190750" y="1142998"/>
                </a:lnTo>
                <a:cubicBezTo>
                  <a:pt x="2190750" y="1164041"/>
                  <a:pt x="2173691" y="1181100"/>
                  <a:pt x="215264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48" name="Shape 46"/>
          <p:cNvSpPr/>
          <p:nvPr/>
        </p:nvSpPr>
        <p:spPr>
          <a:xfrm>
            <a:off x="5940386" y="4572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9" name="Text 47"/>
          <p:cNvSpPr/>
          <p:nvPr/>
        </p:nvSpPr>
        <p:spPr>
          <a:xfrm>
            <a:off x="5064681" y="48768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验证Hybrid Cascade可行性</a:t>
            </a:r>
            <a:endParaRPr lang="en-US" sz="1600"/>
          </a:p>
        </p:txBody>
      </p:sp>
      <p:sp>
        <p:nvSpPr>
          <p:cNvPr id="50" name="Text 48"/>
          <p:cNvSpPr/>
          <p:nvPr/>
        </p:nvSpPr>
        <p:spPr>
          <a:xfrm>
            <a:off x="5074206" y="5372100"/>
            <a:ext cx="2019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级联策略实现召回与精度平衡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7354253" y="102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2" name="Text 50"/>
          <p:cNvSpPr/>
          <p:nvPr/>
        </p:nvSpPr>
        <p:spPr>
          <a:xfrm>
            <a:off x="7568565" y="990600"/>
            <a:ext cx="4333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风险与对策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7338060" y="1379220"/>
            <a:ext cx="4463415" cy="662940"/>
          </a:xfrm>
          <a:custGeom>
            <a:avLst/>
            <a:gdLst/>
            <a:ahLst/>
            <a:cxnLst/>
            <a:rect l="l" t="t" r="r" b="b"/>
            <a:pathLst>
              <a:path w="4463415" h="662940">
                <a:moveTo>
                  <a:pt x="38099" y="0"/>
                </a:moveTo>
                <a:lnTo>
                  <a:pt x="4425316" y="0"/>
                </a:lnTo>
                <a:cubicBezTo>
                  <a:pt x="4446357" y="0"/>
                  <a:pt x="4463415" y="17058"/>
                  <a:pt x="4463415" y="38099"/>
                </a:cubicBezTo>
                <a:lnTo>
                  <a:pt x="4463415" y="624841"/>
                </a:lnTo>
                <a:cubicBezTo>
                  <a:pt x="4463415" y="645868"/>
                  <a:pt x="4446343" y="662940"/>
                  <a:pt x="4425316" y="662940"/>
                </a:cubicBezTo>
                <a:lnTo>
                  <a:pt x="38099" y="662940"/>
                </a:lnTo>
                <a:cubicBezTo>
                  <a:pt x="17058" y="662940"/>
                  <a:pt x="0" y="645882"/>
                  <a:pt x="0" y="62484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9980" y="150114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CoT敏感性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9449038" y="15392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6" name="Text 54"/>
          <p:cNvSpPr/>
          <p:nvPr/>
        </p:nvSpPr>
        <p:spPr>
          <a:xfrm>
            <a:off x="10830045" y="1501140"/>
            <a:ext cx="923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JSON结构化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7459980" y="1767840"/>
            <a:ext cx="4276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简化推理链，提升解析稳定性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7338060" y="2133481"/>
            <a:ext cx="4463415" cy="662940"/>
          </a:xfrm>
          <a:custGeom>
            <a:avLst/>
            <a:gdLst/>
            <a:ahLst/>
            <a:cxnLst/>
            <a:rect l="l" t="t" r="r" b="b"/>
            <a:pathLst>
              <a:path w="4463415" h="662940">
                <a:moveTo>
                  <a:pt x="38099" y="0"/>
                </a:moveTo>
                <a:lnTo>
                  <a:pt x="4425316" y="0"/>
                </a:lnTo>
                <a:cubicBezTo>
                  <a:pt x="4446357" y="0"/>
                  <a:pt x="4463415" y="17058"/>
                  <a:pt x="4463415" y="38099"/>
                </a:cubicBezTo>
                <a:lnTo>
                  <a:pt x="4463415" y="624841"/>
                </a:lnTo>
                <a:cubicBezTo>
                  <a:pt x="4463415" y="645868"/>
                  <a:pt x="4446343" y="662940"/>
                  <a:pt x="4425316" y="662940"/>
                </a:cubicBezTo>
                <a:lnTo>
                  <a:pt x="38099" y="662940"/>
                </a:lnTo>
                <a:cubicBezTo>
                  <a:pt x="17058" y="662940"/>
                  <a:pt x="0" y="645882"/>
                  <a:pt x="0" y="62484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59980" y="2255401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常识缺失</a:t>
            </a:r>
            <a:endParaRPr lang="en-US" sz="1600"/>
          </a:p>
        </p:txBody>
      </p:sp>
      <p:sp>
        <p:nvSpPr>
          <p:cNvPr id="60" name="Shape 58"/>
          <p:cNvSpPr/>
          <p:nvPr/>
        </p:nvSpPr>
        <p:spPr>
          <a:xfrm>
            <a:off x="9494520" y="2293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1" name="Text 59"/>
          <p:cNvSpPr/>
          <p:nvPr/>
        </p:nvSpPr>
        <p:spPr>
          <a:xfrm>
            <a:off x="11071860" y="2255401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知识图谱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7459980" y="2522101"/>
            <a:ext cx="4276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注入ConceptNet等外部知识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7338060" y="2887742"/>
            <a:ext cx="4463415" cy="662940"/>
          </a:xfrm>
          <a:custGeom>
            <a:avLst/>
            <a:gdLst/>
            <a:ahLst/>
            <a:cxnLst/>
            <a:rect l="l" t="t" r="r" b="b"/>
            <a:pathLst>
              <a:path w="4463415" h="662940">
                <a:moveTo>
                  <a:pt x="38099" y="0"/>
                </a:moveTo>
                <a:lnTo>
                  <a:pt x="4425316" y="0"/>
                </a:lnTo>
                <a:cubicBezTo>
                  <a:pt x="4446357" y="0"/>
                  <a:pt x="4463415" y="17058"/>
                  <a:pt x="4463415" y="38099"/>
                </a:cubicBezTo>
                <a:lnTo>
                  <a:pt x="4463415" y="624841"/>
                </a:lnTo>
                <a:cubicBezTo>
                  <a:pt x="4463415" y="645868"/>
                  <a:pt x="4446343" y="662940"/>
                  <a:pt x="4425316" y="662940"/>
                </a:cubicBezTo>
                <a:lnTo>
                  <a:pt x="38099" y="662940"/>
                </a:lnTo>
                <a:cubicBezTo>
                  <a:pt x="17058" y="662940"/>
                  <a:pt x="0" y="645882"/>
                  <a:pt x="0" y="62484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9980" y="300966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算力限制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494520" y="30477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6" name="Text 64"/>
          <p:cNvSpPr/>
          <p:nvPr/>
        </p:nvSpPr>
        <p:spPr>
          <a:xfrm>
            <a:off x="11071860" y="300966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级联优化</a:t>
            </a:r>
            <a:endParaRPr lang="en-US" sz="1600"/>
          </a:p>
        </p:txBody>
      </p:sp>
      <p:sp>
        <p:nvSpPr>
          <p:cNvPr id="67" name="Text 65"/>
          <p:cNvSpPr/>
          <p:nvPr/>
        </p:nvSpPr>
        <p:spPr>
          <a:xfrm>
            <a:off x="7459980" y="3276362"/>
            <a:ext cx="4276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分层策略降低单次推理成本</a:t>
            </a:r>
            <a:endParaRPr lang="en-US" sz="1600"/>
          </a:p>
        </p:txBody>
      </p:sp>
      <p:sp>
        <p:nvSpPr>
          <p:cNvPr id="68" name="Shape 66"/>
          <p:cNvSpPr/>
          <p:nvPr/>
        </p:nvSpPr>
        <p:spPr>
          <a:xfrm>
            <a:off x="7349490" y="3672483"/>
            <a:ext cx="4457700" cy="1371600"/>
          </a:xfrm>
          <a:custGeom>
            <a:avLst/>
            <a:gdLst/>
            <a:ahLst/>
            <a:cxnLst/>
            <a:rect l="l" t="t" r="r" b="b"/>
            <a:pathLst>
              <a:path w="4457700" h="1371600">
                <a:moveTo>
                  <a:pt x="38100" y="0"/>
                </a:moveTo>
                <a:lnTo>
                  <a:pt x="4419597" y="0"/>
                </a:lnTo>
                <a:cubicBezTo>
                  <a:pt x="4440641" y="0"/>
                  <a:pt x="4457700" y="17059"/>
                  <a:pt x="4457700" y="38103"/>
                </a:cubicBezTo>
                <a:lnTo>
                  <a:pt x="4457700" y="1333497"/>
                </a:lnTo>
                <a:cubicBezTo>
                  <a:pt x="4457700" y="1354541"/>
                  <a:pt x="4440641" y="1371600"/>
                  <a:pt x="4419597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7349490" y="3672483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0" name="Shape 68"/>
          <p:cNvSpPr/>
          <p:nvPr/>
        </p:nvSpPr>
        <p:spPr>
          <a:xfrm>
            <a:off x="7566184" y="387250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1" name="Text 69"/>
          <p:cNvSpPr/>
          <p:nvPr/>
        </p:nvSpPr>
        <p:spPr>
          <a:xfrm>
            <a:off x="7740015" y="3824883"/>
            <a:ext cx="400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问题-指标影响矩阵</a:t>
            </a:r>
            <a:endParaRPr lang="en-US" sz="1600"/>
          </a:p>
        </p:txBody>
      </p:sp>
      <p:sp>
        <p:nvSpPr>
          <p:cNvPr id="72" name="Text 70"/>
          <p:cNvSpPr/>
          <p:nvPr/>
        </p:nvSpPr>
        <p:spPr>
          <a:xfrm>
            <a:off x="7520940" y="4167783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73" name="Text 71"/>
          <p:cNvSpPr/>
          <p:nvPr/>
        </p:nvSpPr>
        <p:spPr>
          <a:xfrm>
            <a:off x="7730490" y="4167783"/>
            <a:ext cx="135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CoT敏感性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→ F1崩溃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7520940" y="4434483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75" name="Text 73"/>
          <p:cNvSpPr/>
          <p:nvPr/>
        </p:nvSpPr>
        <p:spPr>
          <a:xfrm>
            <a:off x="7730490" y="4434483"/>
            <a:ext cx="1543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误报问题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→ Precision↓</a:t>
            </a:r>
            <a:endParaRPr lang="en-US" sz="1600"/>
          </a:p>
        </p:txBody>
      </p:sp>
      <p:sp>
        <p:nvSpPr>
          <p:cNvPr id="76" name="Text 74"/>
          <p:cNvSpPr/>
          <p:nvPr/>
        </p:nvSpPr>
        <p:spPr>
          <a:xfrm>
            <a:off x="7520940" y="4701183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77" name="Text 75"/>
          <p:cNvSpPr/>
          <p:nvPr/>
        </p:nvSpPr>
        <p:spPr>
          <a:xfrm>
            <a:off x="7730490" y="4701183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召回需求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→ Recall优先</a:t>
            </a:r>
            <a:endParaRPr lang="en-US" sz="1600"/>
          </a:p>
        </p:txBody>
      </p:sp>
      <p:sp>
        <p:nvSpPr>
          <p:cNvPr id="78" name="Shape 76"/>
          <p:cNvSpPr/>
          <p:nvPr/>
        </p:nvSpPr>
        <p:spPr>
          <a:xfrm>
            <a:off x="381000" y="5791081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9" name="Shape 77"/>
          <p:cNvSpPr/>
          <p:nvPr/>
        </p:nvSpPr>
        <p:spPr>
          <a:xfrm>
            <a:off x="4581287" y="594348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704850" y="5905381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已形成清晰问题定义与可实施的升级路径</a:t>
            </a:r>
            <a:endParaRPr lang="en-US" sz="1600"/>
          </a:p>
        </p:txBody>
      </p:sp>
      <p:sp>
        <p:nvSpPr>
          <p:cNvPr id="81" name="Text 79"/>
          <p:cNvSpPr/>
          <p:nvPr/>
        </p:nvSpPr>
        <p:spPr>
          <a:xfrm>
            <a:off x="314325" y="6324481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79264" y="381000"/>
            <a:ext cx="3457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原理剖析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7239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400050" y="895350"/>
            <a:ext cx="6162675" cy="971550"/>
          </a:xfrm>
          <a:custGeom>
            <a:avLst/>
            <a:gdLst/>
            <a:ahLst/>
            <a:cxnLst/>
            <a:rect l="l" t="t" r="r" b="b"/>
            <a:pathLst>
              <a:path w="6162675" h="971550">
                <a:moveTo>
                  <a:pt x="0" y="0"/>
                </a:moveTo>
                <a:lnTo>
                  <a:pt x="6086476" y="0"/>
                </a:lnTo>
                <a:cubicBezTo>
                  <a:pt x="6128560" y="0"/>
                  <a:pt x="6162675" y="34115"/>
                  <a:pt x="6162675" y="76199"/>
                </a:cubicBezTo>
                <a:lnTo>
                  <a:pt x="6162675" y="895351"/>
                </a:lnTo>
                <a:cubicBezTo>
                  <a:pt x="6162675" y="937435"/>
                  <a:pt x="6128560" y="971550"/>
                  <a:pt x="6086476" y="971550"/>
                </a:cubicBez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6" name="Shape 4"/>
          <p:cNvSpPr/>
          <p:nvPr/>
        </p:nvSpPr>
        <p:spPr>
          <a:xfrm>
            <a:off x="400050" y="8953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Shape 5"/>
          <p:cNvSpPr/>
          <p:nvPr/>
        </p:nvSpPr>
        <p:spPr>
          <a:xfrm>
            <a:off x="561975" y="1047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800100" y="1009650"/>
            <a:ext cx="154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为什么选择 EmoBi？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33400" y="1314450"/>
            <a:ext cx="598170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EmoBi 是 </a:t>
            </a: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2025年学术界 SOTA 方案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，在纯文本夸张/隐喻联合检测任务上达到最优性能，首次系统性地将"情感知识"引入修辞检测领域。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00050" y="1976438"/>
            <a:ext cx="6162675" cy="1409700"/>
          </a:xfrm>
          <a:custGeom>
            <a:avLst/>
            <a:gdLst/>
            <a:ahLst/>
            <a:cxnLst/>
            <a:rect l="l" t="t" r="r" b="b"/>
            <a:pathLst>
              <a:path w="6162675" h="1409700">
                <a:moveTo>
                  <a:pt x="38100" y="0"/>
                </a:moveTo>
                <a:lnTo>
                  <a:pt x="6086481" y="0"/>
                </a:lnTo>
                <a:cubicBezTo>
                  <a:pt x="6128533" y="0"/>
                  <a:pt x="6162675" y="34142"/>
                  <a:pt x="6162675" y="76194"/>
                </a:cubicBezTo>
                <a:lnTo>
                  <a:pt x="6162675" y="1333506"/>
                </a:lnTo>
                <a:cubicBezTo>
                  <a:pt x="6162675" y="1375587"/>
                  <a:pt x="6128562" y="1409700"/>
                  <a:pt x="6086481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400050" y="1976438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533400" y="2090738"/>
            <a:ext cx="257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①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81169" y="2109788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原理拆解：情感引导机制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533400" y="2433638"/>
            <a:ext cx="598170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首次系统性地将</a:t>
            </a:r>
            <a:r>
              <a:rPr lang="en-US" sz="90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情感知识 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引入检测，通过情感分析连接语言表层与修辞深层。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37210" y="2730341"/>
            <a:ext cx="5903595" cy="541020"/>
          </a:xfrm>
          <a:custGeom>
            <a:avLst/>
            <a:gdLst/>
            <a:ahLst/>
            <a:cxnLst/>
            <a:rect l="l" t="t" r="r" b="b"/>
            <a:pathLst>
              <a:path w="5903595" h="541020">
                <a:moveTo>
                  <a:pt x="38099" y="0"/>
                </a:moveTo>
                <a:lnTo>
                  <a:pt x="5865496" y="0"/>
                </a:lnTo>
                <a:cubicBezTo>
                  <a:pt x="5886538" y="0"/>
                  <a:pt x="5903595" y="17057"/>
                  <a:pt x="5903595" y="38099"/>
                </a:cubicBezTo>
                <a:lnTo>
                  <a:pt x="5903595" y="502921"/>
                </a:lnTo>
                <a:cubicBezTo>
                  <a:pt x="5903595" y="523963"/>
                  <a:pt x="5886538" y="541020"/>
                  <a:pt x="5865496" y="541020"/>
                </a:cubicBezTo>
                <a:lnTo>
                  <a:pt x="38099" y="541020"/>
                </a:lnTo>
                <a:cubicBezTo>
                  <a:pt x="17057" y="541020"/>
                  <a:pt x="0" y="523963"/>
                  <a:pt x="0" y="502921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" y="2810351"/>
            <a:ext cx="5800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案例："Time is a butcher's knife"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617220" y="3000732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字面义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1112520" y="3029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1336358" y="300073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残酷无情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1965008" y="3029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2188845" y="300073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隐喻映射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400050" y="3503652"/>
            <a:ext cx="6162675" cy="1895475"/>
          </a:xfrm>
          <a:custGeom>
            <a:avLst/>
            <a:gdLst/>
            <a:ahLst/>
            <a:cxnLst/>
            <a:rect l="l" t="t" r="r" b="b"/>
            <a:pathLst>
              <a:path w="6162675" h="1895475">
                <a:moveTo>
                  <a:pt x="38100" y="0"/>
                </a:moveTo>
                <a:lnTo>
                  <a:pt x="6086477" y="0"/>
                </a:lnTo>
                <a:cubicBezTo>
                  <a:pt x="6128560" y="0"/>
                  <a:pt x="6162675" y="34115"/>
                  <a:pt x="6162675" y="76198"/>
                </a:cubicBezTo>
                <a:lnTo>
                  <a:pt x="6162675" y="1819277"/>
                </a:lnTo>
                <a:cubicBezTo>
                  <a:pt x="6162675" y="1861360"/>
                  <a:pt x="6128560" y="1895475"/>
                  <a:pt x="6086477" y="1895475"/>
                </a:cubicBez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Shape 21"/>
          <p:cNvSpPr/>
          <p:nvPr/>
        </p:nvSpPr>
        <p:spPr>
          <a:xfrm>
            <a:off x="400050" y="3503652"/>
            <a:ext cx="38100" cy="1895475"/>
          </a:xfrm>
          <a:custGeom>
            <a:avLst/>
            <a:gdLst/>
            <a:ahLst/>
            <a:cxnLst/>
            <a:rect l="l" t="t" r="r" b="b"/>
            <a:pathLst>
              <a:path w="38100" h="1895475">
                <a:moveTo>
                  <a:pt x="38100" y="0"/>
                </a:moveTo>
                <a:lnTo>
                  <a:pt x="38100" y="0"/>
                </a:lnTo>
                <a:lnTo>
                  <a:pt x="38100" y="1895475"/>
                </a:ln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Text 22"/>
          <p:cNvSpPr/>
          <p:nvPr/>
        </p:nvSpPr>
        <p:spPr>
          <a:xfrm>
            <a:off x="533400" y="3617952"/>
            <a:ext cx="257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②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781169" y="3637002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原理拆解：双向动态交互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533400" y="3960852"/>
            <a:ext cx="598170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夸张提供</a:t>
            </a: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情感强度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，隐喻提供</a:t>
            </a: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语义框架</a:t>
            </a: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，两者形成闭环增强（Bidirectional Dynamic Interaction）。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2534365" y="4474250"/>
            <a:ext cx="1912620" cy="807720"/>
          </a:xfrm>
          <a:custGeom>
            <a:avLst/>
            <a:gdLst/>
            <a:ahLst/>
            <a:cxnLst/>
            <a:rect l="l" t="t" r="r" b="b"/>
            <a:pathLst>
              <a:path w="1912620" h="807720">
                <a:moveTo>
                  <a:pt x="76200" y="0"/>
                </a:moveTo>
                <a:lnTo>
                  <a:pt x="1836420" y="0"/>
                </a:lnTo>
                <a:cubicBezTo>
                  <a:pt x="1878504" y="0"/>
                  <a:pt x="1912620" y="34116"/>
                  <a:pt x="1912620" y="76200"/>
                </a:cubicBezTo>
                <a:lnTo>
                  <a:pt x="1912620" y="731520"/>
                </a:lnTo>
                <a:cubicBezTo>
                  <a:pt x="1912620" y="773604"/>
                  <a:pt x="1878504" y="807720"/>
                  <a:pt x="18364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0574" y="45542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2661999" y="4554260"/>
            <a:ext cx="514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2661999" y="5049560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情感强度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3407450" y="47161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3262194" y="488763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双向增强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3833812" y="45542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34" name="Text 32"/>
          <p:cNvSpPr/>
          <p:nvPr/>
        </p:nvSpPr>
        <p:spPr>
          <a:xfrm>
            <a:off x="3805237" y="4554260"/>
            <a:ext cx="5143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3805237" y="5049560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语义框架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384810" y="5518071"/>
            <a:ext cx="6170295" cy="1188720"/>
          </a:xfrm>
          <a:custGeom>
            <a:avLst/>
            <a:gdLst/>
            <a:ahLst/>
            <a:cxnLst/>
            <a:rect l="l" t="t" r="r" b="b"/>
            <a:pathLst>
              <a:path w="6170295" h="1188720">
                <a:moveTo>
                  <a:pt x="76197" y="0"/>
                </a:moveTo>
                <a:lnTo>
                  <a:pt x="6094098" y="0"/>
                </a:lnTo>
                <a:cubicBezTo>
                  <a:pt x="6136180" y="0"/>
                  <a:pt x="6170295" y="34115"/>
                  <a:pt x="6170295" y="76197"/>
                </a:cubicBezTo>
                <a:lnTo>
                  <a:pt x="6170295" y="1112523"/>
                </a:lnTo>
                <a:cubicBezTo>
                  <a:pt x="6170295" y="1154605"/>
                  <a:pt x="6136180" y="1188720"/>
                  <a:pt x="6094098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970" y="56742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Text 36"/>
          <p:cNvSpPr/>
          <p:nvPr/>
        </p:nvSpPr>
        <p:spPr>
          <a:xfrm>
            <a:off x="769620" y="5636181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局限性启发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502920" y="5940981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495300" y="5979081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718820" y="5979081"/>
            <a:ext cx="3086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多步推理易发生"错误传播"（Error Propagation）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495300" y="6262291"/>
            <a:ext cx="20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753225" y="895350"/>
            <a:ext cx="5057775" cy="3990975"/>
          </a:xfrm>
          <a:custGeom>
            <a:avLst/>
            <a:gdLst/>
            <a:ahLst/>
            <a:cxnLst/>
            <a:rect l="l" t="t" r="r" b="b"/>
            <a:pathLst>
              <a:path w="5057775" h="3990975">
                <a:moveTo>
                  <a:pt x="76188" y="0"/>
                </a:moveTo>
                <a:lnTo>
                  <a:pt x="4981587" y="0"/>
                </a:lnTo>
                <a:cubicBezTo>
                  <a:pt x="5023636" y="0"/>
                  <a:pt x="5057775" y="34139"/>
                  <a:pt x="5057775" y="76188"/>
                </a:cubicBezTo>
                <a:lnTo>
                  <a:pt x="5057775" y="3914787"/>
                </a:lnTo>
                <a:cubicBezTo>
                  <a:pt x="5057775" y="3956865"/>
                  <a:pt x="5023665" y="3990975"/>
                  <a:pt x="4981587" y="3990975"/>
                </a:cubicBezTo>
                <a:lnTo>
                  <a:pt x="76188" y="3990975"/>
                </a:lnTo>
                <a:cubicBezTo>
                  <a:pt x="34139" y="3990975"/>
                  <a:pt x="0" y="3956836"/>
                  <a:pt x="0" y="3914787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46" name="Text 44"/>
          <p:cNvSpPr/>
          <p:nvPr/>
        </p:nvSpPr>
        <p:spPr>
          <a:xfrm>
            <a:off x="6867525" y="1009650"/>
            <a:ext cx="4886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Figure 1: EmoBi 情感引导域映射示意图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6871335" y="1241941"/>
            <a:ext cx="4817745" cy="3493770"/>
          </a:xfrm>
          <a:custGeom>
            <a:avLst/>
            <a:gdLst/>
            <a:ahLst/>
            <a:cxnLst/>
            <a:rect l="l" t="t" r="r" b="b"/>
            <a:pathLst>
              <a:path w="4817745" h="3493770">
                <a:moveTo>
                  <a:pt x="38117" y="0"/>
                </a:moveTo>
                <a:lnTo>
                  <a:pt x="4779628" y="0"/>
                </a:lnTo>
                <a:cubicBezTo>
                  <a:pt x="4800679" y="0"/>
                  <a:pt x="4817745" y="17066"/>
                  <a:pt x="4817745" y="38117"/>
                </a:cubicBezTo>
                <a:lnTo>
                  <a:pt x="4817745" y="3455653"/>
                </a:lnTo>
                <a:cubicBezTo>
                  <a:pt x="4817745" y="3476704"/>
                  <a:pt x="4800679" y="3493770"/>
                  <a:pt x="4779628" y="3493770"/>
                </a:cubicBezTo>
                <a:lnTo>
                  <a:pt x="38117" y="3493770"/>
                </a:lnTo>
                <a:cubicBezTo>
                  <a:pt x="17066" y="3493770"/>
                  <a:pt x="0" y="3476704"/>
                  <a:pt x="0" y="3455653"/>
                </a:cubicBezTo>
                <a:lnTo>
                  <a:pt x="0" y="38117"/>
                </a:lnTo>
                <a:cubicBezTo>
                  <a:pt x="0" y="17066"/>
                  <a:pt x="17066" y="0"/>
                  <a:pt x="3811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89445" y="1524357"/>
            <a:ext cx="4581525" cy="495300"/>
          </a:xfrm>
          <a:custGeom>
            <a:avLst/>
            <a:gdLst/>
            <a:ahLst/>
            <a:cxnLst/>
            <a:rect l="l" t="t" r="r" b="b"/>
            <a:pathLst>
              <a:path w="4581525" h="495300">
                <a:moveTo>
                  <a:pt x="38098" y="0"/>
                </a:moveTo>
                <a:lnTo>
                  <a:pt x="4543427" y="0"/>
                </a:lnTo>
                <a:cubicBezTo>
                  <a:pt x="4564468" y="0"/>
                  <a:pt x="4581525" y="17057"/>
                  <a:pt x="4581525" y="38098"/>
                </a:cubicBezTo>
                <a:lnTo>
                  <a:pt x="4581525" y="457202"/>
                </a:lnTo>
                <a:cubicBezTo>
                  <a:pt x="4581525" y="478243"/>
                  <a:pt x="4564468" y="495300"/>
                  <a:pt x="45434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3F4F6"/>
          </a:solidFill>
        </p:spPr>
      </p:sp>
      <p:sp>
        <p:nvSpPr>
          <p:cNvPr id="49" name="Text 47"/>
          <p:cNvSpPr/>
          <p:nvPr/>
        </p:nvSpPr>
        <p:spPr>
          <a:xfrm>
            <a:off x="7037070" y="1600557"/>
            <a:ext cx="4486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输入文本</a:t>
            </a:r>
            <a:endParaRPr lang="en-US" sz="1600"/>
          </a:p>
        </p:txBody>
      </p:sp>
      <p:sp>
        <p:nvSpPr>
          <p:cNvPr id="50" name="Text 48"/>
          <p:cNvSpPr/>
          <p:nvPr/>
        </p:nvSpPr>
        <p:spPr>
          <a:xfrm>
            <a:off x="7032307" y="1752838"/>
            <a:ext cx="449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"Time is a butcher's knife"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9224963" y="20957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2" name="Shape 50"/>
          <p:cNvSpPr/>
          <p:nvPr/>
        </p:nvSpPr>
        <p:spPr>
          <a:xfrm>
            <a:off x="7333298" y="2324338"/>
            <a:ext cx="3895725" cy="495300"/>
          </a:xfrm>
          <a:custGeom>
            <a:avLst/>
            <a:gdLst/>
            <a:ahLst/>
            <a:cxnLst/>
            <a:rect l="l" t="t" r="r" b="b"/>
            <a:pathLst>
              <a:path w="3895725" h="495300">
                <a:moveTo>
                  <a:pt x="38098" y="0"/>
                </a:moveTo>
                <a:lnTo>
                  <a:pt x="3857627" y="0"/>
                </a:lnTo>
                <a:cubicBezTo>
                  <a:pt x="3878668" y="0"/>
                  <a:pt x="3895725" y="17057"/>
                  <a:pt x="3895725" y="38098"/>
                </a:cubicBezTo>
                <a:lnTo>
                  <a:pt x="3895725" y="457202"/>
                </a:lnTo>
                <a:cubicBezTo>
                  <a:pt x="3895725" y="478243"/>
                  <a:pt x="3878668" y="495300"/>
                  <a:pt x="38576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3" name="Text 51"/>
          <p:cNvSpPr/>
          <p:nvPr/>
        </p:nvSpPr>
        <p:spPr>
          <a:xfrm>
            <a:off x="7380923" y="2400538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情感分析模块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7376160" y="2552819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提取情感特征：残酷、无情、锋利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9224963" y="28957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6" name="Shape 54"/>
          <p:cNvSpPr/>
          <p:nvPr/>
        </p:nvSpPr>
        <p:spPr>
          <a:xfrm>
            <a:off x="6989445" y="3124319"/>
            <a:ext cx="2085975" cy="495300"/>
          </a:xfrm>
          <a:custGeom>
            <a:avLst/>
            <a:gdLst/>
            <a:ahLst/>
            <a:cxnLst/>
            <a:rect l="l" t="t" r="r" b="b"/>
            <a:pathLst>
              <a:path w="2085975" h="495300">
                <a:moveTo>
                  <a:pt x="38098" y="0"/>
                </a:moveTo>
                <a:lnTo>
                  <a:pt x="2047877" y="0"/>
                </a:lnTo>
                <a:cubicBezTo>
                  <a:pt x="2068918" y="0"/>
                  <a:pt x="2085975" y="17057"/>
                  <a:pt x="2085975" y="38098"/>
                </a:cubicBezTo>
                <a:lnTo>
                  <a:pt x="2085975" y="457202"/>
                </a:lnTo>
                <a:cubicBezTo>
                  <a:pt x="2085975" y="478243"/>
                  <a:pt x="2068918" y="495300"/>
                  <a:pt x="20478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57" name="Text 55"/>
          <p:cNvSpPr/>
          <p:nvPr/>
        </p:nvSpPr>
        <p:spPr>
          <a:xfrm>
            <a:off x="7037070" y="3200519"/>
            <a:ext cx="1990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源域</a:t>
            </a:r>
            <a:endParaRPr lang="en-US" sz="1600"/>
          </a:p>
        </p:txBody>
      </p:sp>
      <p:sp>
        <p:nvSpPr>
          <p:cNvPr id="58" name="Text 56"/>
          <p:cNvSpPr/>
          <p:nvPr/>
        </p:nvSpPr>
        <p:spPr>
          <a:xfrm>
            <a:off x="7032307" y="3352800"/>
            <a:ext cx="2000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butcher's knife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9205913" y="3295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0" name="Shape 58"/>
          <p:cNvSpPr/>
          <p:nvPr/>
        </p:nvSpPr>
        <p:spPr>
          <a:xfrm>
            <a:off x="9491663" y="3124319"/>
            <a:ext cx="2085975" cy="495300"/>
          </a:xfrm>
          <a:custGeom>
            <a:avLst/>
            <a:gdLst/>
            <a:ahLst/>
            <a:cxnLst/>
            <a:rect l="l" t="t" r="r" b="b"/>
            <a:pathLst>
              <a:path w="2085975" h="495300">
                <a:moveTo>
                  <a:pt x="38098" y="0"/>
                </a:moveTo>
                <a:lnTo>
                  <a:pt x="2047877" y="0"/>
                </a:lnTo>
                <a:cubicBezTo>
                  <a:pt x="2068918" y="0"/>
                  <a:pt x="2085975" y="17057"/>
                  <a:pt x="2085975" y="38098"/>
                </a:cubicBezTo>
                <a:lnTo>
                  <a:pt x="2085975" y="457202"/>
                </a:lnTo>
                <a:cubicBezTo>
                  <a:pt x="2085975" y="478243"/>
                  <a:pt x="2068918" y="495300"/>
                  <a:pt x="20478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F2937"/>
          </a:solidFill>
        </p:spPr>
      </p:sp>
      <p:sp>
        <p:nvSpPr>
          <p:cNvPr id="61" name="Text 59"/>
          <p:cNvSpPr/>
          <p:nvPr/>
        </p:nvSpPr>
        <p:spPr>
          <a:xfrm>
            <a:off x="9539288" y="3200519"/>
            <a:ext cx="19907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8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目标域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9534525" y="3352800"/>
            <a:ext cx="2000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Time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9224963" y="3695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4" name="Shape 62"/>
          <p:cNvSpPr/>
          <p:nvPr/>
        </p:nvSpPr>
        <p:spPr>
          <a:xfrm>
            <a:off x="7340918" y="3931920"/>
            <a:ext cx="3882390" cy="510540"/>
          </a:xfrm>
          <a:custGeom>
            <a:avLst/>
            <a:gdLst/>
            <a:ahLst/>
            <a:cxnLst/>
            <a:rect l="l" t="t" r="r" b="b"/>
            <a:pathLst>
              <a:path w="3882390" h="510540">
                <a:moveTo>
                  <a:pt x="38102" y="0"/>
                </a:moveTo>
                <a:lnTo>
                  <a:pt x="3844288" y="0"/>
                </a:lnTo>
                <a:cubicBezTo>
                  <a:pt x="3865331" y="0"/>
                  <a:pt x="3882390" y="17059"/>
                  <a:pt x="3882390" y="38102"/>
                </a:cubicBezTo>
                <a:lnTo>
                  <a:pt x="3882390" y="472438"/>
                </a:lnTo>
                <a:cubicBezTo>
                  <a:pt x="3882390" y="493481"/>
                  <a:pt x="3865331" y="510540"/>
                  <a:pt x="3844288" y="510540"/>
                </a:cubicBezTo>
                <a:lnTo>
                  <a:pt x="38102" y="510540"/>
                </a:lnTo>
                <a:cubicBezTo>
                  <a:pt x="17059" y="510540"/>
                  <a:pt x="0" y="493481"/>
                  <a:pt x="0" y="472438"/>
                </a:cubicBezTo>
                <a:lnTo>
                  <a:pt x="0" y="38102"/>
                </a:lnTo>
                <a:cubicBezTo>
                  <a:pt x="0" y="17059"/>
                  <a:pt x="17059" y="0"/>
                  <a:pt x="38102" y="0"/>
                </a:cubicBezTo>
                <a:close/>
              </a:path>
            </a:pathLst>
          </a:custGeom>
          <a:solidFill>
            <a:srgbClr val="FEF2F2"/>
          </a:solidFill>
          <a:ln w="20320">
            <a:solidFill>
              <a:srgbClr val="8B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96162" y="4015740"/>
            <a:ext cx="3771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联合检测结果</a:t>
            </a:r>
            <a:endParaRPr lang="en-US" sz="1600"/>
          </a:p>
        </p:txBody>
      </p:sp>
      <p:sp>
        <p:nvSpPr>
          <p:cNvPr id="66" name="Text 64"/>
          <p:cNvSpPr/>
          <p:nvPr/>
        </p:nvSpPr>
        <p:spPr>
          <a:xfrm>
            <a:off x="7391400" y="4168021"/>
            <a:ext cx="3781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 + 夸张（情感强度：高）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6753225" y="5003006"/>
            <a:ext cx="5057775" cy="1419225"/>
          </a:xfrm>
          <a:custGeom>
            <a:avLst/>
            <a:gdLst/>
            <a:ahLst/>
            <a:cxnLst/>
            <a:rect l="l" t="t" r="r" b="b"/>
            <a:pathLst>
              <a:path w="5057775" h="1419225">
                <a:moveTo>
                  <a:pt x="76198" y="0"/>
                </a:moveTo>
                <a:lnTo>
                  <a:pt x="4981577" y="0"/>
                </a:lnTo>
                <a:cubicBezTo>
                  <a:pt x="5023660" y="0"/>
                  <a:pt x="5057775" y="34115"/>
                  <a:pt x="5057775" y="76198"/>
                </a:cubicBezTo>
                <a:lnTo>
                  <a:pt x="5057775" y="1343027"/>
                </a:lnTo>
                <a:cubicBezTo>
                  <a:pt x="5057775" y="1385110"/>
                  <a:pt x="5023660" y="1419225"/>
                  <a:pt x="49815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8" name="Text 66"/>
          <p:cNvSpPr/>
          <p:nvPr/>
        </p:nvSpPr>
        <p:spPr>
          <a:xfrm>
            <a:off x="6867525" y="5117306"/>
            <a:ext cx="4886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Table 1: 传统方法 vs 情感引导方法对比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6871335" y="5349597"/>
            <a:ext cx="4817745" cy="950595"/>
          </a:xfrm>
          <a:custGeom>
            <a:avLst/>
            <a:gdLst/>
            <a:ahLst/>
            <a:cxnLst/>
            <a:rect l="l" t="t" r="r" b="b"/>
            <a:pathLst>
              <a:path w="4817745" h="950595">
                <a:moveTo>
                  <a:pt x="38100" y="0"/>
                </a:moveTo>
                <a:lnTo>
                  <a:pt x="4779645" y="0"/>
                </a:lnTo>
                <a:cubicBezTo>
                  <a:pt x="4800687" y="0"/>
                  <a:pt x="4817745" y="17058"/>
                  <a:pt x="4817745" y="38100"/>
                </a:cubicBezTo>
                <a:lnTo>
                  <a:pt x="4817745" y="912495"/>
                </a:lnTo>
                <a:cubicBezTo>
                  <a:pt x="4817745" y="933537"/>
                  <a:pt x="4800687" y="950595"/>
                  <a:pt x="4779645" y="950595"/>
                </a:cubicBezTo>
                <a:lnTo>
                  <a:pt x="38100" y="950595"/>
                </a:lnTo>
                <a:cubicBezTo>
                  <a:pt x="17058" y="950595"/>
                  <a:pt x="0" y="933537"/>
                  <a:pt x="0" y="91249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graphicFrame>
        <p:nvGraphicFramePr>
          <p:cNvPr id="70" name="Table 0"/>
          <p:cNvGraphicFramePr>
            <a:graphicFrameLocks noGrp="1"/>
          </p:cNvGraphicFramePr>
          <p:nvPr/>
        </p:nvGraphicFramePr>
        <p:xfrm>
          <a:off x="6875145" y="5353408"/>
          <a:ext cx="4810125" cy="942975"/>
        </p:xfrm>
        <a:graphic>
          <a:graphicData uri="http://schemas.openxmlformats.org/drawingml/2006/table">
            <a:tbl>
              <a:tblPr/>
              <a:tblGrid>
                <a:gridCol w="1178766"/>
                <a:gridCol w="2471606"/>
                <a:gridCol w="1159753"/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判断逻辑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en-US" sz="900" u="none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传统字面判断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"时间"≠"刀" → 语义冲突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仅隐喻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lang="en-US" sz="900" u="none">
                          <a:solidFill>
                            <a:srgbClr val="6B728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情感引导判断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情感强度+语义框架 → 双向增强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隐喻+夸张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1" name="Shape 47"/>
          <p:cNvSpPr/>
          <p:nvPr/>
        </p:nvSpPr>
        <p:spPr>
          <a:xfrm>
            <a:off x="561975" y="6452870"/>
            <a:ext cx="11430000" cy="32512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  <p:txBody>
          <a:bodyPr/>
          <a:p>
            <a:endParaRPr lang="zh-CN" altLang="en-US"/>
          </a:p>
        </p:txBody>
      </p:sp>
      <p:sp>
        <p:nvSpPr>
          <p:cNvPr id="73" name="Text 70"/>
          <p:cNvSpPr/>
          <p:nvPr/>
        </p:nvSpPr>
        <p:spPr>
          <a:xfrm>
            <a:off x="3648075" y="652526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核心洞察：先进的理论框架需要更稳健的工程实现来落地小参数模型</a:t>
            </a:r>
            <a:endParaRPr lang="en-US" sz="1600"/>
          </a:p>
        </p:txBody>
      </p:sp>
      <p:sp>
        <p:nvSpPr>
          <p:cNvPr id="72" name="Shape 69"/>
          <p:cNvSpPr/>
          <p:nvPr/>
        </p:nvSpPr>
        <p:spPr>
          <a:xfrm>
            <a:off x="3359785" y="6597015"/>
            <a:ext cx="132080" cy="14224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DF20"/>
          </a:solidFill>
        </p:spPr>
        <p:txBody>
          <a:bodyPr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18820" y="6237526"/>
            <a:ext cx="2495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对小模型（8B及以下）不友好，落地困难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2.2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35938" y="381000"/>
            <a:ext cx="18573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模型架构设计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9" name="Shape 47"/>
          <p:cNvSpPr/>
          <p:nvPr/>
        </p:nvSpPr>
        <p:spPr>
          <a:xfrm>
            <a:off x="381000" y="6080761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0" name="Shape 48"/>
          <p:cNvSpPr/>
          <p:nvPr/>
        </p:nvSpPr>
        <p:spPr>
          <a:xfrm>
            <a:off x="3285887" y="623316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704850" y="6195061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将隐式知识转化为显式特征注入，结合级联校验，显著提升小模型的推理稳定性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>
          <a:xfrm>
            <a:off x="314325" y="6614161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  <p:pic>
        <p:nvPicPr>
          <p:cNvPr id="53" name="图片 52" descr="Gemini_Generated_Image_oimlxooimlxooiml"/>
          <p:cNvPicPr>
            <a:picLocks noChangeAspect="1"/>
          </p:cNvPicPr>
          <p:nvPr/>
        </p:nvPicPr>
        <p:blipFill>
          <a:blip r:embed="rId1"/>
          <a:srcRect r="-933" b="6318"/>
          <a:stretch>
            <a:fillRect/>
          </a:stretch>
        </p:blipFill>
        <p:spPr>
          <a:xfrm>
            <a:off x="479425" y="855980"/>
            <a:ext cx="9001125" cy="48774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墨迹 10"/>
              <p14:cNvContentPartPr/>
              <p14:nvPr/>
            </p14:nvContentPartPr>
            <p14:xfrm>
              <a:off x="7190105" y="1370965"/>
              <a:ext cx="2008505" cy="23114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3"/>
            </p:blipFill>
            <p:spPr>
              <a:xfrm>
                <a:off x="7190105" y="1370965"/>
                <a:ext cx="2008505" cy="231140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428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10339" y="381000"/>
            <a:ext cx="4429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阶段成果一：工程基础与监控闭环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381000" y="1028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19125" y="9906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核心工程成果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00050" y="13716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61999"/>
                </a:lnTo>
                <a:cubicBezTo>
                  <a:pt x="5600700" y="804084"/>
                  <a:pt x="5566584" y="838200"/>
                  <a:pt x="55244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8" name="Shape 6"/>
          <p:cNvSpPr/>
          <p:nvPr/>
        </p:nvSpPr>
        <p:spPr>
          <a:xfrm>
            <a:off x="400050" y="1371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595313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923925" y="15240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评估闭环系统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71500" y="1828800"/>
            <a:ext cx="535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Accuracy/Precision/Recall/</a:t>
            </a: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F1</a:t>
            </a: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自动计算与输出，支持多方案同口径横向对比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00050" y="23241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61999"/>
                </a:lnTo>
                <a:cubicBezTo>
                  <a:pt x="5600700" y="804084"/>
                  <a:pt x="5566584" y="838200"/>
                  <a:pt x="55244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3" name="Shape 11"/>
          <p:cNvSpPr/>
          <p:nvPr/>
        </p:nvSpPr>
        <p:spPr>
          <a:xfrm>
            <a:off x="400050" y="2324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583406" y="2495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923925" y="24765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解析鲁棒性与异常重试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71500" y="2781300"/>
            <a:ext cx="535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正则抽取替代脆弱split，异常重试机制保障运行连续性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00050" y="3276600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990598"/>
                </a:lnTo>
                <a:cubicBezTo>
                  <a:pt x="5600700" y="1032683"/>
                  <a:pt x="5566583" y="1066800"/>
                  <a:pt x="55244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8" name="Shape 16"/>
          <p:cNvSpPr/>
          <p:nvPr/>
        </p:nvSpPr>
        <p:spPr>
          <a:xfrm>
            <a:off x="400050" y="32766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Shape 17"/>
          <p:cNvSpPr/>
          <p:nvPr/>
        </p:nvSpPr>
        <p:spPr>
          <a:xfrm>
            <a:off x="571500" y="34480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923925" y="3429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多方案横向对比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571500" y="3733800"/>
            <a:ext cx="5353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统一评估标准，支持Baseline/Enhanced/Optimized/Counterfactual/Hybrid同口径比较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400050" y="44958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38100" y="0"/>
                </a:moveTo>
                <a:lnTo>
                  <a:pt x="5562596" y="0"/>
                </a:lnTo>
                <a:cubicBezTo>
                  <a:pt x="5583640" y="0"/>
                  <a:pt x="5600700" y="17060"/>
                  <a:pt x="5600700" y="38104"/>
                </a:cubicBezTo>
                <a:lnTo>
                  <a:pt x="5600700" y="1371596"/>
                </a:lnTo>
                <a:cubicBezTo>
                  <a:pt x="5600700" y="1392640"/>
                  <a:pt x="5583640" y="1409700"/>
                  <a:pt x="556259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00050" y="44958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4" name="Shape 22"/>
          <p:cNvSpPr/>
          <p:nvPr/>
        </p:nvSpPr>
        <p:spPr>
          <a:xfrm>
            <a:off x="616744" y="4695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790575" y="46482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评估闭环流程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571500" y="499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Shape 25"/>
          <p:cNvSpPr/>
          <p:nvPr/>
        </p:nvSpPr>
        <p:spPr>
          <a:xfrm>
            <a:off x="742950" y="516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8364" y="101575"/>
                </a:moveTo>
                <a:cubicBezTo>
                  <a:pt x="131862" y="98078"/>
                  <a:pt x="131862" y="92422"/>
                  <a:pt x="128364" y="88962"/>
                </a:cubicBezTo>
                <a:lnTo>
                  <a:pt x="74786" y="35347"/>
                </a:lnTo>
                <a:cubicBezTo>
                  <a:pt x="72219" y="32779"/>
                  <a:pt x="68387" y="32035"/>
                  <a:pt x="65038" y="33412"/>
                </a:cubicBezTo>
                <a:cubicBezTo>
                  <a:pt x="61689" y="34789"/>
                  <a:pt x="59531" y="38063"/>
                  <a:pt x="59531" y="41672"/>
                </a:cubicBezTo>
                <a:lnTo>
                  <a:pt x="59531" y="71438"/>
                </a:ln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01203"/>
                </a:lnTo>
                <a:cubicBezTo>
                  <a:pt x="0" y="111063"/>
                  <a:pt x="8000" y="119063"/>
                  <a:pt x="17859" y="119063"/>
                </a:cubicBezTo>
                <a:lnTo>
                  <a:pt x="59531" y="119063"/>
                </a:lnTo>
                <a:lnTo>
                  <a:pt x="59531" y="148828"/>
                </a:lnTo>
                <a:cubicBezTo>
                  <a:pt x="59531" y="152437"/>
                  <a:pt x="61689" y="155711"/>
                  <a:pt x="65038" y="157088"/>
                </a:cubicBezTo>
                <a:cubicBezTo>
                  <a:pt x="68387" y="158465"/>
                  <a:pt x="72219" y="157721"/>
                  <a:pt x="74786" y="155153"/>
                </a:cubicBezTo>
                <a:lnTo>
                  <a:pt x="128364" y="101575"/>
                </a:lnTo>
                <a:close/>
                <a:moveTo>
                  <a:pt x="130969" y="154781"/>
                </a:moveTo>
                <a:cubicBezTo>
                  <a:pt x="124383" y="154781"/>
                  <a:pt x="119063" y="160102"/>
                  <a:pt x="119063" y="166688"/>
                </a:cubicBezTo>
                <a:cubicBezTo>
                  <a:pt x="119063" y="173273"/>
                  <a:pt x="124383" y="178594"/>
                  <a:pt x="130969" y="178594"/>
                </a:cubicBezTo>
                <a:lnTo>
                  <a:pt x="154781" y="178594"/>
                </a:lnTo>
                <a:cubicBezTo>
                  <a:pt x="174501" y="178594"/>
                  <a:pt x="190500" y="162595"/>
                  <a:pt x="190500" y="142875"/>
                </a:cubicBezTo>
                <a:lnTo>
                  <a:pt x="190500" y="47625"/>
                </a:lnTo>
                <a:cubicBezTo>
                  <a:pt x="190500" y="27905"/>
                  <a:pt x="174501" y="11906"/>
                  <a:pt x="154781" y="11906"/>
                </a:cubicBezTo>
                <a:lnTo>
                  <a:pt x="130969" y="11906"/>
                </a:lnTo>
                <a:cubicBezTo>
                  <a:pt x="124383" y="11906"/>
                  <a:pt x="119063" y="17227"/>
                  <a:pt x="119063" y="23812"/>
                </a:cubicBezTo>
                <a:cubicBezTo>
                  <a:pt x="119063" y="30398"/>
                  <a:pt x="124383" y="35719"/>
                  <a:pt x="130969" y="35719"/>
                </a:cubicBez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42875"/>
                </a:lnTo>
                <a:cubicBezTo>
                  <a:pt x="166688" y="149461"/>
                  <a:pt x="161367" y="154781"/>
                  <a:pt x="154781" y="154781"/>
                </a:cubicBezTo>
                <a:lnTo>
                  <a:pt x="130969" y="15478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38163" y="55626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输入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1533525" y="527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2152650" y="499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Shape 29"/>
          <p:cNvSpPr/>
          <p:nvPr/>
        </p:nvSpPr>
        <p:spPr>
          <a:xfrm>
            <a:off x="2324100" y="516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2119313" y="55626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处理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3114675" y="527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Shape 32"/>
          <p:cNvSpPr/>
          <p:nvPr/>
        </p:nvSpPr>
        <p:spPr>
          <a:xfrm>
            <a:off x="3733800" y="499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Shape 33"/>
          <p:cNvSpPr/>
          <p:nvPr/>
        </p:nvSpPr>
        <p:spPr>
          <a:xfrm>
            <a:off x="3905250" y="516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3700463" y="55626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指标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4695825" y="527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Shape 36"/>
          <p:cNvSpPr/>
          <p:nvPr/>
        </p:nvSpPr>
        <p:spPr>
          <a:xfrm>
            <a:off x="5314950" y="4991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Shape 37"/>
          <p:cNvSpPr/>
          <p:nvPr/>
        </p:nvSpPr>
        <p:spPr>
          <a:xfrm>
            <a:off x="5498306" y="5162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5281613" y="55626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存档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6203156" y="1028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Text 40"/>
          <p:cNvSpPr/>
          <p:nvPr/>
        </p:nvSpPr>
        <p:spPr>
          <a:xfrm>
            <a:off x="6429375" y="9906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运行产物示意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6198870" y="1379220"/>
            <a:ext cx="5606415" cy="1272540"/>
          </a:xfrm>
          <a:custGeom>
            <a:avLst/>
            <a:gdLst/>
            <a:ahLst/>
            <a:cxnLst/>
            <a:rect l="l" t="t" r="r" b="b"/>
            <a:pathLst>
              <a:path w="5606415" h="1272540">
                <a:moveTo>
                  <a:pt x="38100" y="0"/>
                </a:moveTo>
                <a:lnTo>
                  <a:pt x="5568315" y="0"/>
                </a:lnTo>
                <a:cubicBezTo>
                  <a:pt x="5589357" y="0"/>
                  <a:pt x="5606415" y="17058"/>
                  <a:pt x="5606415" y="38100"/>
                </a:cubicBezTo>
                <a:lnTo>
                  <a:pt x="5606415" y="1234440"/>
                </a:lnTo>
                <a:cubicBezTo>
                  <a:pt x="5606415" y="1255482"/>
                  <a:pt x="5589357" y="1272540"/>
                  <a:pt x="5568315" y="1272540"/>
                </a:cubicBezTo>
                <a:lnTo>
                  <a:pt x="38100" y="1272540"/>
                </a:lnTo>
                <a:cubicBezTo>
                  <a:pt x="17058" y="1272540"/>
                  <a:pt x="0" y="1255482"/>
                  <a:pt x="0" y="123444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0790" y="1501141"/>
            <a:ext cx="542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test_data.csv（测试数据集，30样本）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320790" y="1767841"/>
            <a:ext cx="5362575" cy="762000"/>
          </a:xfrm>
          <a:custGeom>
            <a:avLst/>
            <a:gdLst/>
            <a:ahLst/>
            <a:cxnLst/>
            <a:rect l="l" t="t" r="r" b="b"/>
            <a:pathLst>
              <a:path w="5362575" h="762000">
                <a:moveTo>
                  <a:pt x="38100" y="0"/>
                </a:moveTo>
                <a:lnTo>
                  <a:pt x="5324475" y="0"/>
                </a:lnTo>
                <a:cubicBezTo>
                  <a:pt x="5345503" y="0"/>
                  <a:pt x="5362575" y="17072"/>
                  <a:pt x="5362575" y="38100"/>
                </a:cubicBezTo>
                <a:lnTo>
                  <a:pt x="5362575" y="723900"/>
                </a:lnTo>
                <a:cubicBezTo>
                  <a:pt x="5362575" y="744928"/>
                  <a:pt x="5345503" y="762000"/>
                  <a:pt x="53244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396990" y="1844041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id, text, hyper_label, meta_label</a:t>
            </a:r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6396990" y="1996320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001, "他跑得比兔子还快", 1, 0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6396990" y="2148604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002, "时间是小偷", 0, 1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6396990" y="2300883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>
          <a:xfrm>
            <a:off x="6198870" y="2780823"/>
            <a:ext cx="5606415" cy="1120140"/>
          </a:xfrm>
          <a:custGeom>
            <a:avLst/>
            <a:gdLst/>
            <a:ahLst/>
            <a:cxnLst/>
            <a:rect l="l" t="t" r="r" b="b"/>
            <a:pathLst>
              <a:path w="5606415" h="1120140">
                <a:moveTo>
                  <a:pt x="38096" y="0"/>
                </a:moveTo>
                <a:lnTo>
                  <a:pt x="5568319" y="0"/>
                </a:lnTo>
                <a:cubicBezTo>
                  <a:pt x="5589359" y="0"/>
                  <a:pt x="5606415" y="17056"/>
                  <a:pt x="5606415" y="38096"/>
                </a:cubicBezTo>
                <a:lnTo>
                  <a:pt x="5606415" y="1082044"/>
                </a:lnTo>
                <a:cubicBezTo>
                  <a:pt x="5606415" y="1103070"/>
                  <a:pt x="5589345" y="1120140"/>
                  <a:pt x="5568319" y="1120140"/>
                </a:cubicBezTo>
                <a:lnTo>
                  <a:pt x="38096" y="1120140"/>
                </a:lnTo>
                <a:cubicBezTo>
                  <a:pt x="17056" y="1120140"/>
                  <a:pt x="0" y="1103084"/>
                  <a:pt x="0" y="108204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9FAFB"/>
          </a:solidFill>
          <a:ln w="2032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0790" y="2902744"/>
            <a:ext cx="542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cascade_results.csv（级联运行结果）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6320790" y="3169444"/>
            <a:ext cx="5362575" cy="609600"/>
          </a:xfrm>
          <a:custGeom>
            <a:avLst/>
            <a:gdLst/>
            <a:ahLst/>
            <a:cxnLst/>
            <a:rect l="l" t="t" r="r" b="b"/>
            <a:pathLst>
              <a:path w="5362575" h="609600">
                <a:moveTo>
                  <a:pt x="38100" y="0"/>
                </a:moveTo>
                <a:lnTo>
                  <a:pt x="5324475" y="0"/>
                </a:lnTo>
                <a:cubicBezTo>
                  <a:pt x="5345503" y="0"/>
                  <a:pt x="5362575" y="17072"/>
                  <a:pt x="5362575" y="38100"/>
                </a:cubicBezTo>
                <a:lnTo>
                  <a:pt x="5362575" y="571500"/>
                </a:lnTo>
                <a:cubicBezTo>
                  <a:pt x="5362575" y="592528"/>
                  <a:pt x="5345503" y="609600"/>
                  <a:pt x="53244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6396990" y="3245644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method, accuracy, precision, recall, f1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6396990" y="3397927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Hybrid, 0.9667, 0.9333, 1.0000, </a:t>
            </a:r>
            <a:r>
              <a:rPr lang="en-US" sz="900" b="1">
                <a:solidFill>
                  <a:srgbClr val="8B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0.9655</a:t>
            </a:r>
            <a:endParaRPr lang="en-US" sz="1600"/>
          </a:p>
        </p:txBody>
      </p:sp>
      <p:sp>
        <p:nvSpPr>
          <p:cNvPr id="55" name="Text 53"/>
          <p:cNvSpPr/>
          <p:nvPr/>
        </p:nvSpPr>
        <p:spPr>
          <a:xfrm>
            <a:off x="6396990" y="3550207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6210300" y="4060627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098" y="0"/>
                </a:moveTo>
                <a:lnTo>
                  <a:pt x="5562602" y="0"/>
                </a:lnTo>
                <a:cubicBezTo>
                  <a:pt x="5583643" y="0"/>
                  <a:pt x="5600700" y="17057"/>
                  <a:pt x="5600700" y="38098"/>
                </a:cubicBezTo>
                <a:lnTo>
                  <a:pt x="5600700" y="1447802"/>
                </a:lnTo>
                <a:cubicBezTo>
                  <a:pt x="5600700" y="1468843"/>
                  <a:pt x="5583643" y="1485900"/>
                  <a:pt x="5562602" y="1485900"/>
                </a:cubicBezTo>
                <a:lnTo>
                  <a:pt x="38098" y="1485900"/>
                </a:lnTo>
                <a:cubicBezTo>
                  <a:pt x="17057" y="1485900"/>
                  <a:pt x="0" y="1468843"/>
                  <a:pt x="0" y="14478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6210300" y="4060627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8" name="Shape 56"/>
          <p:cNvSpPr/>
          <p:nvPr/>
        </p:nvSpPr>
        <p:spPr>
          <a:xfrm>
            <a:off x="6394847" y="426065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9" name="Text 57"/>
          <p:cNvSpPr/>
          <p:nvPr/>
        </p:nvSpPr>
        <p:spPr>
          <a:xfrm>
            <a:off x="6600825" y="4213027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重点突破：Stage-2监控链</a:t>
            </a:r>
            <a:endParaRPr lang="en-US" sz="1600"/>
          </a:p>
        </p:txBody>
      </p:sp>
      <p:sp>
        <p:nvSpPr>
          <p:cNvPr id="60" name="Text 58"/>
          <p:cNvSpPr/>
          <p:nvPr/>
        </p:nvSpPr>
        <p:spPr>
          <a:xfrm>
            <a:off x="6381750" y="4555927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>
          <a:xfrm>
            <a:off x="6610350" y="4555927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增加</a:t>
            </a: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重试原因分布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（Retry Reason）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6381750" y="4860727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63" name="Text 61"/>
          <p:cNvSpPr/>
          <p:nvPr/>
        </p:nvSpPr>
        <p:spPr>
          <a:xfrm>
            <a:off x="6610350" y="4860727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增加</a:t>
            </a: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异常量化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（Mismatch Ratio）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6381750" y="5165527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65" name="Text 63"/>
          <p:cNvSpPr/>
          <p:nvPr/>
        </p:nvSpPr>
        <p:spPr>
          <a:xfrm>
            <a:off x="6610350" y="5165527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增加</a:t>
            </a: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告警评分字段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，支持后续人工复核（Needs Review）</a:t>
            </a:r>
            <a:endParaRPr lang="en-US" sz="1600"/>
          </a:p>
        </p:txBody>
      </p:sp>
      <p:sp>
        <p:nvSpPr>
          <p:cNvPr id="66" name="Shape 64"/>
          <p:cNvSpPr/>
          <p:nvPr/>
        </p:nvSpPr>
        <p:spPr>
          <a:xfrm>
            <a:off x="381000" y="60579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7" name="Shape 65"/>
          <p:cNvSpPr/>
          <p:nvPr/>
        </p:nvSpPr>
        <p:spPr>
          <a:xfrm>
            <a:off x="3455908" y="6210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704850" y="6172200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系统从"仅输出标签"升级为具备"置信度监控与人工复核指引"的可观测平台</a:t>
            </a:r>
            <a:endParaRPr lang="en-US" sz="1600"/>
          </a:p>
        </p:txBody>
      </p:sp>
      <p:sp>
        <p:nvSpPr>
          <p:cNvPr id="69" name="Text 67"/>
          <p:cNvSpPr/>
          <p:nvPr/>
        </p:nvSpPr>
        <p:spPr>
          <a:xfrm>
            <a:off x="314325" y="65913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835700" y="381000"/>
            <a:ext cx="3286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核心实验对比：真实数据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404813" y="102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619125" y="990600"/>
            <a:ext cx="663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方案横向对比柱状图</a:t>
            </a:r>
            <a:endParaRPr lang="en-US" sz="1600"/>
          </a:p>
        </p:txBody>
      </p:sp>
      <p:pic>
        <p:nvPicPr>
          <p:cNvPr id="7" name="Image 0" descr="https://kimi-img.moonshot.cn/pub/slides/26-03-17-20:24:05-d6skfp9a9tptbn1io2m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0" y="1371600"/>
            <a:ext cx="6781800" cy="4000500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47663" y="5448300"/>
            <a:ext cx="6848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Figure 1: 四方案双任务F1对比（数据来源：large_test_data.csv，30样本）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7389019" y="10287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7"/>
          <p:cNvSpPr/>
          <p:nvPr/>
        </p:nvSpPr>
        <p:spPr>
          <a:xfrm>
            <a:off x="7591425" y="99060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详细指标对比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7372350" y="1371600"/>
            <a:ext cx="4438650" cy="952500"/>
          </a:xfrm>
          <a:custGeom>
            <a:avLst/>
            <a:gdLst/>
            <a:ahLst/>
            <a:cxnLst/>
            <a:rect l="l" t="t" r="r" b="b"/>
            <a:pathLst>
              <a:path w="4438650" h="952500">
                <a:moveTo>
                  <a:pt x="381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876300"/>
                </a:lnTo>
                <a:cubicBezTo>
                  <a:pt x="4438650" y="918356"/>
                  <a:pt x="4404506" y="952500"/>
                  <a:pt x="4362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2" name="Shape 9"/>
          <p:cNvSpPr/>
          <p:nvPr/>
        </p:nvSpPr>
        <p:spPr>
          <a:xfrm>
            <a:off x="7372350" y="13716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0"/>
          <p:cNvSpPr/>
          <p:nvPr/>
        </p:nvSpPr>
        <p:spPr>
          <a:xfrm>
            <a:off x="7505700" y="1485900"/>
            <a:ext cx="1800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Baseline（Zero-Shot）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11315581" y="14859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FCE7"/>
          </a:solidFill>
        </p:spPr>
      </p:sp>
      <p:sp>
        <p:nvSpPr>
          <p:cNvPr id="15" name="Text 12"/>
          <p:cNvSpPr/>
          <p:nvPr/>
        </p:nvSpPr>
        <p:spPr>
          <a:xfrm>
            <a:off x="11315581" y="1485900"/>
            <a:ext cx="4381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0082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7505700" y="17526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夸张F1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7505700" y="19431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0.8800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9639300" y="17526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隐喻F1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9639300" y="19431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0.8000</a:t>
            </a:r>
            <a:endParaRPr lang="en-US" sz="1600"/>
          </a:p>
        </p:txBody>
      </p:sp>
      <p:sp>
        <p:nvSpPr>
          <p:cNvPr id="20" name="Shape 17"/>
          <p:cNvSpPr/>
          <p:nvPr/>
        </p:nvSpPr>
        <p:spPr>
          <a:xfrm>
            <a:off x="7372350" y="2400300"/>
            <a:ext cx="4438650" cy="952500"/>
          </a:xfrm>
          <a:custGeom>
            <a:avLst/>
            <a:gdLst/>
            <a:ahLst/>
            <a:cxnLst/>
            <a:rect l="l" t="t" r="r" b="b"/>
            <a:pathLst>
              <a:path w="4438650" h="952500">
                <a:moveTo>
                  <a:pt x="381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876300"/>
                </a:lnTo>
                <a:cubicBezTo>
                  <a:pt x="4438650" y="918356"/>
                  <a:pt x="4404506" y="952500"/>
                  <a:pt x="4362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21" name="Shape 18"/>
          <p:cNvSpPr/>
          <p:nvPr/>
        </p:nvSpPr>
        <p:spPr>
          <a:xfrm>
            <a:off x="7372350" y="24003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2" name="Text 19"/>
          <p:cNvSpPr/>
          <p:nvPr/>
        </p:nvSpPr>
        <p:spPr>
          <a:xfrm>
            <a:off x="7505700" y="2514600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Enhanced（Few-Shot+Graph）</a:t>
            </a:r>
            <a:endParaRPr lang="en-US" sz="1600"/>
          </a:p>
        </p:txBody>
      </p:sp>
      <p:sp>
        <p:nvSpPr>
          <p:cNvPr id="23" name="Shape 20"/>
          <p:cNvSpPr/>
          <p:nvPr/>
        </p:nvSpPr>
        <p:spPr>
          <a:xfrm>
            <a:off x="11315581" y="25146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E2E2"/>
          </a:solidFill>
        </p:spPr>
      </p:sp>
      <p:sp>
        <p:nvSpPr>
          <p:cNvPr id="24" name="Text 21"/>
          <p:cNvSpPr/>
          <p:nvPr/>
        </p:nvSpPr>
        <p:spPr>
          <a:xfrm>
            <a:off x="11315581" y="2514600"/>
            <a:ext cx="4381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C1000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崩溃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7505700" y="27813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夸张F1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7505700" y="29718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E7000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0.2150</a:t>
            </a:r>
            <a:endParaRPr lang="en-US" sz="1600"/>
          </a:p>
        </p:txBody>
      </p:sp>
      <p:sp>
        <p:nvSpPr>
          <p:cNvPr id="27" name="Text 24"/>
          <p:cNvSpPr/>
          <p:nvPr/>
        </p:nvSpPr>
        <p:spPr>
          <a:xfrm>
            <a:off x="9639300" y="27813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隐喻F1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>
          <a:xfrm>
            <a:off x="9639300" y="29718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E7000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0.1250</a:t>
            </a:r>
            <a:endParaRPr lang="en-US" sz="1600"/>
          </a:p>
        </p:txBody>
      </p:sp>
      <p:sp>
        <p:nvSpPr>
          <p:cNvPr id="29" name="Shape 26"/>
          <p:cNvSpPr/>
          <p:nvPr/>
        </p:nvSpPr>
        <p:spPr>
          <a:xfrm>
            <a:off x="7372350" y="3429000"/>
            <a:ext cx="4438650" cy="1143000"/>
          </a:xfrm>
          <a:custGeom>
            <a:avLst/>
            <a:gdLst/>
            <a:ahLst/>
            <a:cxnLst/>
            <a:rect l="l" t="t" r="r" b="b"/>
            <a:pathLst>
              <a:path w="4438650" h="1143000">
                <a:moveTo>
                  <a:pt x="38100" y="0"/>
                </a:moveTo>
                <a:lnTo>
                  <a:pt x="4362446" y="0"/>
                </a:lnTo>
                <a:cubicBezTo>
                  <a:pt x="4404532" y="0"/>
                  <a:pt x="4438650" y="34118"/>
                  <a:pt x="4438650" y="76204"/>
                </a:cubicBezTo>
                <a:lnTo>
                  <a:pt x="4438650" y="1066796"/>
                </a:lnTo>
                <a:cubicBezTo>
                  <a:pt x="4438650" y="1108882"/>
                  <a:pt x="4404532" y="1143000"/>
                  <a:pt x="43624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30" name="Shape 27"/>
          <p:cNvSpPr/>
          <p:nvPr/>
        </p:nvSpPr>
        <p:spPr>
          <a:xfrm>
            <a:off x="7372350" y="3429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8"/>
          <p:cNvSpPr/>
          <p:nvPr/>
        </p:nvSpPr>
        <p:spPr>
          <a:xfrm>
            <a:off x="7505700" y="3543300"/>
            <a:ext cx="1590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Optimized（JSON）</a:t>
            </a:r>
            <a:endParaRPr lang="en-US" sz="1600"/>
          </a:p>
        </p:txBody>
      </p:sp>
      <p:sp>
        <p:nvSpPr>
          <p:cNvPr id="32" name="Shape 29"/>
          <p:cNvSpPr/>
          <p:nvPr/>
        </p:nvSpPr>
        <p:spPr>
          <a:xfrm>
            <a:off x="11315581" y="35433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33" name="Text 30"/>
          <p:cNvSpPr/>
          <p:nvPr/>
        </p:nvSpPr>
        <p:spPr>
          <a:xfrm>
            <a:off x="11315581" y="3543300"/>
            <a:ext cx="4381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1447E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</a:t>
            </a:r>
            <a:endParaRPr lang="en-US" sz="1600"/>
          </a:p>
        </p:txBody>
      </p:sp>
      <p:sp>
        <p:nvSpPr>
          <p:cNvPr id="34" name="Text 31"/>
          <p:cNvSpPr/>
          <p:nvPr/>
        </p:nvSpPr>
        <p:spPr>
          <a:xfrm>
            <a:off x="7505700" y="38100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夸张F1</a:t>
            </a:r>
            <a:endParaRPr lang="en-US" sz="1600"/>
          </a:p>
        </p:txBody>
      </p:sp>
      <p:sp>
        <p:nvSpPr>
          <p:cNvPr id="35" name="Text 32"/>
          <p:cNvSpPr/>
          <p:nvPr/>
        </p:nvSpPr>
        <p:spPr>
          <a:xfrm>
            <a:off x="7505700" y="40005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0.8235</a:t>
            </a:r>
            <a:endParaRPr lang="en-US" sz="1600"/>
          </a:p>
        </p:txBody>
      </p:sp>
      <p:sp>
        <p:nvSpPr>
          <p:cNvPr id="36" name="Text 33"/>
          <p:cNvSpPr/>
          <p:nvPr/>
        </p:nvSpPr>
        <p:spPr>
          <a:xfrm>
            <a:off x="9639300" y="38100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隐喻F1</a:t>
            </a:r>
            <a:endParaRPr lang="en-US" sz="1600"/>
          </a:p>
        </p:txBody>
      </p:sp>
      <p:sp>
        <p:nvSpPr>
          <p:cNvPr id="37" name="Text 34"/>
          <p:cNvSpPr/>
          <p:nvPr/>
        </p:nvSpPr>
        <p:spPr>
          <a:xfrm>
            <a:off x="9639300" y="4000500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0.7407</a:t>
            </a:r>
            <a:endParaRPr lang="en-US" sz="1600"/>
          </a:p>
        </p:txBody>
      </p:sp>
      <p:sp>
        <p:nvSpPr>
          <p:cNvPr id="38" name="Text 35"/>
          <p:cNvSpPr/>
          <p:nvPr/>
        </p:nvSpPr>
        <p:spPr>
          <a:xfrm>
            <a:off x="7505700" y="4305300"/>
            <a:ext cx="424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Precision=0.8333，Recall=0.6667</a:t>
            </a:r>
            <a:endParaRPr lang="en-US" sz="1600"/>
          </a:p>
        </p:txBody>
      </p:sp>
      <p:sp>
        <p:nvSpPr>
          <p:cNvPr id="39" name="Shape 36"/>
          <p:cNvSpPr/>
          <p:nvPr/>
        </p:nvSpPr>
        <p:spPr>
          <a:xfrm>
            <a:off x="7372350" y="4648084"/>
            <a:ext cx="4438650" cy="876300"/>
          </a:xfrm>
          <a:custGeom>
            <a:avLst/>
            <a:gdLst/>
            <a:ahLst/>
            <a:cxnLst/>
            <a:rect l="l" t="t" r="r" b="b"/>
            <a:pathLst>
              <a:path w="4438650" h="876300">
                <a:moveTo>
                  <a:pt x="38100" y="0"/>
                </a:moveTo>
                <a:lnTo>
                  <a:pt x="4362447" y="0"/>
                </a:lnTo>
                <a:cubicBezTo>
                  <a:pt x="4404533" y="0"/>
                  <a:pt x="4438650" y="34117"/>
                  <a:pt x="4438650" y="76203"/>
                </a:cubicBezTo>
                <a:lnTo>
                  <a:pt x="4438650" y="800097"/>
                </a:lnTo>
                <a:cubicBezTo>
                  <a:pt x="4438650" y="842183"/>
                  <a:pt x="4404533" y="876300"/>
                  <a:pt x="4362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40" name="Shape 37"/>
          <p:cNvSpPr/>
          <p:nvPr/>
        </p:nvSpPr>
        <p:spPr>
          <a:xfrm>
            <a:off x="7372350" y="4648084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41" name="Text 38"/>
          <p:cNvSpPr/>
          <p:nvPr/>
        </p:nvSpPr>
        <p:spPr>
          <a:xfrm>
            <a:off x="7505700" y="4762384"/>
            <a:ext cx="2009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Counterfactual（仅隐喻）</a:t>
            </a:r>
            <a:endParaRPr lang="en-US" sz="1600"/>
          </a:p>
        </p:txBody>
      </p:sp>
      <p:sp>
        <p:nvSpPr>
          <p:cNvPr id="42" name="Shape 39"/>
          <p:cNvSpPr/>
          <p:nvPr/>
        </p:nvSpPr>
        <p:spPr>
          <a:xfrm>
            <a:off x="11201281" y="4762384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EF9C2"/>
          </a:solidFill>
        </p:spPr>
      </p:sp>
      <p:sp>
        <p:nvSpPr>
          <p:cNvPr id="43" name="Text 40"/>
          <p:cNvSpPr/>
          <p:nvPr/>
        </p:nvSpPr>
        <p:spPr>
          <a:xfrm>
            <a:off x="11201281" y="4762384"/>
            <a:ext cx="552450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A65F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高召回</a:t>
            </a:r>
            <a:endParaRPr lang="en-US" sz="1600"/>
          </a:p>
        </p:txBody>
      </p:sp>
      <p:sp>
        <p:nvSpPr>
          <p:cNvPr id="44" name="Text 41"/>
          <p:cNvSpPr/>
          <p:nvPr/>
        </p:nvSpPr>
        <p:spPr>
          <a:xfrm>
            <a:off x="7505700" y="5029084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Precision</a:t>
            </a:r>
            <a:endParaRPr lang="en-US" sz="1600"/>
          </a:p>
        </p:txBody>
      </p:sp>
      <p:sp>
        <p:nvSpPr>
          <p:cNvPr id="45" name="Text 42"/>
          <p:cNvSpPr/>
          <p:nvPr/>
        </p:nvSpPr>
        <p:spPr>
          <a:xfrm>
            <a:off x="7505700" y="5181363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0.5357</a:t>
            </a:r>
            <a:endParaRPr lang="en-US" sz="1600"/>
          </a:p>
        </p:txBody>
      </p:sp>
      <p:sp>
        <p:nvSpPr>
          <p:cNvPr id="46" name="Text 43"/>
          <p:cNvSpPr/>
          <p:nvPr/>
        </p:nvSpPr>
        <p:spPr>
          <a:xfrm>
            <a:off x="8915400" y="5029084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Recall</a:t>
            </a:r>
            <a:endParaRPr lang="en-US" sz="1600"/>
          </a:p>
        </p:txBody>
      </p:sp>
      <p:sp>
        <p:nvSpPr>
          <p:cNvPr id="47" name="Text 44"/>
          <p:cNvSpPr/>
          <p:nvPr/>
        </p:nvSpPr>
        <p:spPr>
          <a:xfrm>
            <a:off x="8915400" y="5181363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1.0000</a:t>
            </a:r>
            <a:endParaRPr lang="en-US" sz="1600"/>
          </a:p>
        </p:txBody>
      </p:sp>
      <p:sp>
        <p:nvSpPr>
          <p:cNvPr id="48" name="Text 45"/>
          <p:cNvSpPr/>
          <p:nvPr/>
        </p:nvSpPr>
        <p:spPr>
          <a:xfrm>
            <a:off x="10325100" y="5029084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9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F1</a:t>
            </a:r>
            <a:endParaRPr lang="en-US" sz="1600"/>
          </a:p>
        </p:txBody>
      </p:sp>
      <p:sp>
        <p:nvSpPr>
          <p:cNvPr id="49" name="Text 46"/>
          <p:cNvSpPr/>
          <p:nvPr/>
        </p:nvSpPr>
        <p:spPr>
          <a:xfrm>
            <a:off x="10325100" y="5181363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0.6977</a:t>
            </a:r>
            <a:endParaRPr lang="en-US" sz="1600"/>
          </a:p>
        </p:txBody>
      </p:sp>
      <p:sp>
        <p:nvSpPr>
          <p:cNvPr id="50" name="Shape 47"/>
          <p:cNvSpPr/>
          <p:nvPr/>
        </p:nvSpPr>
        <p:spPr>
          <a:xfrm>
            <a:off x="381000" y="57531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1" name="Shape 48"/>
          <p:cNvSpPr/>
          <p:nvPr/>
        </p:nvSpPr>
        <p:spPr>
          <a:xfrm>
            <a:off x="4209097" y="5905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49"/>
          <p:cNvSpPr/>
          <p:nvPr/>
        </p:nvSpPr>
        <p:spPr>
          <a:xfrm>
            <a:off x="704850" y="5867400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当前证据表明"结构化输出更稳，反事实更偏高召回"</a:t>
            </a:r>
            <a:endParaRPr lang="en-US" sz="1600"/>
          </a:p>
        </p:txBody>
      </p:sp>
      <p:sp>
        <p:nvSpPr>
          <p:cNvPr id="53" name="Text 50"/>
          <p:cNvSpPr/>
          <p:nvPr/>
        </p:nvSpPr>
        <p:spPr>
          <a:xfrm>
            <a:off x="314325" y="62865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105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56591"/>
            <a:ext cx="407532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605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3.3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44701" y="339610"/>
            <a:ext cx="3183844" cy="305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005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显式特征优化下的指标增益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39610" y="713181"/>
            <a:ext cx="679220" cy="33961"/>
          </a:xfrm>
          <a:custGeom>
            <a:avLst/>
            <a:gdLst/>
            <a:ahLst/>
            <a:cxnLst/>
            <a:rect l="l" t="t" r="r" b="b"/>
            <a:pathLst>
              <a:path w="679220" h="33961">
                <a:moveTo>
                  <a:pt x="0" y="0"/>
                </a:moveTo>
                <a:lnTo>
                  <a:pt x="679220" y="0"/>
                </a:lnTo>
                <a:lnTo>
                  <a:pt x="679220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339610" y="781103"/>
            <a:ext cx="1158070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Bench10困难样本验证口径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82061" y="1154674"/>
            <a:ext cx="127354" cy="169805"/>
          </a:xfrm>
          <a:custGeom>
            <a:avLst/>
            <a:gdLst/>
            <a:ahLst/>
            <a:cxnLst/>
            <a:rect l="l" t="t" r="r" b="b"/>
            <a:pathLst>
              <a:path w="127354" h="169805">
                <a:moveTo>
                  <a:pt x="56182" y="166688"/>
                </a:moveTo>
                <a:cubicBezTo>
                  <a:pt x="60327" y="170833"/>
                  <a:pt x="67060" y="170833"/>
                  <a:pt x="71205" y="166688"/>
                </a:cubicBezTo>
                <a:lnTo>
                  <a:pt x="124269" y="113623"/>
                </a:lnTo>
                <a:cubicBezTo>
                  <a:pt x="128415" y="109478"/>
                  <a:pt x="128415" y="102745"/>
                  <a:pt x="124269" y="98600"/>
                </a:cubicBezTo>
                <a:cubicBezTo>
                  <a:pt x="120124" y="94454"/>
                  <a:pt x="113391" y="94454"/>
                  <a:pt x="109246" y="98600"/>
                </a:cubicBezTo>
                <a:lnTo>
                  <a:pt x="74290" y="133556"/>
                </a:lnTo>
                <a:lnTo>
                  <a:pt x="74290" y="10613"/>
                </a:lnTo>
                <a:cubicBezTo>
                  <a:pt x="74290" y="4743"/>
                  <a:pt x="69547" y="0"/>
                  <a:pt x="63677" y="0"/>
                </a:cubicBezTo>
                <a:cubicBezTo>
                  <a:pt x="57807" y="0"/>
                  <a:pt x="53064" y="4743"/>
                  <a:pt x="53064" y="10613"/>
                </a:cubicBezTo>
                <a:lnTo>
                  <a:pt x="53064" y="133556"/>
                </a:lnTo>
                <a:lnTo>
                  <a:pt x="18108" y="98600"/>
                </a:lnTo>
                <a:cubicBezTo>
                  <a:pt x="13962" y="94454"/>
                  <a:pt x="7230" y="94454"/>
                  <a:pt x="3084" y="98600"/>
                </a:cubicBezTo>
                <a:cubicBezTo>
                  <a:pt x="-1061" y="102745"/>
                  <a:pt x="-1061" y="109478"/>
                  <a:pt x="3084" y="113623"/>
                </a:cubicBezTo>
                <a:lnTo>
                  <a:pt x="56148" y="166688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7" name="Text 5"/>
          <p:cNvSpPr/>
          <p:nvPr/>
        </p:nvSpPr>
        <p:spPr>
          <a:xfrm>
            <a:off x="551866" y="1120713"/>
            <a:ext cx="554413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3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优化前（Baseline/CoT）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356591" y="1460323"/>
            <a:ext cx="5654507" cy="1477304"/>
          </a:xfrm>
          <a:custGeom>
            <a:avLst/>
            <a:gdLst/>
            <a:ahLst/>
            <a:cxnLst/>
            <a:rect l="l" t="t" r="r" b="b"/>
            <a:pathLst>
              <a:path w="5654507" h="1477304">
                <a:moveTo>
                  <a:pt x="33961" y="0"/>
                </a:moveTo>
                <a:lnTo>
                  <a:pt x="5586581" y="0"/>
                </a:lnTo>
                <a:cubicBezTo>
                  <a:pt x="5624095" y="0"/>
                  <a:pt x="5654507" y="30412"/>
                  <a:pt x="5654507" y="67926"/>
                </a:cubicBezTo>
                <a:lnTo>
                  <a:pt x="5654507" y="1409377"/>
                </a:lnTo>
                <a:cubicBezTo>
                  <a:pt x="5654507" y="1446892"/>
                  <a:pt x="5624095" y="1477304"/>
                  <a:pt x="5586581" y="1477304"/>
                </a:cubicBezTo>
                <a:lnTo>
                  <a:pt x="33961" y="1477304"/>
                </a:lnTo>
                <a:cubicBezTo>
                  <a:pt x="15205" y="1477304"/>
                  <a:pt x="0" y="1462099"/>
                  <a:pt x="0" y="1443343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9" name="Shape 7"/>
          <p:cNvSpPr/>
          <p:nvPr/>
        </p:nvSpPr>
        <p:spPr>
          <a:xfrm>
            <a:off x="356591" y="1460323"/>
            <a:ext cx="33961" cy="1477304"/>
          </a:xfrm>
          <a:custGeom>
            <a:avLst/>
            <a:gdLst/>
            <a:ahLst/>
            <a:cxnLst/>
            <a:rect l="l" t="t" r="r" b="b"/>
            <a:pathLst>
              <a:path w="33961" h="1477304">
                <a:moveTo>
                  <a:pt x="33961" y="0"/>
                </a:moveTo>
                <a:lnTo>
                  <a:pt x="33961" y="0"/>
                </a:lnTo>
                <a:lnTo>
                  <a:pt x="33961" y="1477304"/>
                </a:lnTo>
                <a:lnTo>
                  <a:pt x="33961" y="1477304"/>
                </a:lnTo>
                <a:cubicBezTo>
                  <a:pt x="15205" y="1477304"/>
                  <a:pt x="0" y="1462099"/>
                  <a:pt x="0" y="1443343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10" name="Text 8"/>
          <p:cNvSpPr/>
          <p:nvPr/>
        </p:nvSpPr>
        <p:spPr>
          <a:xfrm>
            <a:off x="509415" y="1596167"/>
            <a:ext cx="5433760" cy="220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07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小模型对生僻隐喻域映射能力差，易输出空值，</a:t>
            </a:r>
            <a:r>
              <a:rPr lang="en-US" sz="107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解析成功率约70%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09415" y="1918797"/>
            <a:ext cx="5365838" cy="882986"/>
          </a:xfrm>
          <a:custGeom>
            <a:avLst/>
            <a:gdLst/>
            <a:ahLst/>
            <a:cxnLst/>
            <a:rect l="l" t="t" r="r" b="b"/>
            <a:pathLst>
              <a:path w="5365838" h="882986">
                <a:moveTo>
                  <a:pt x="33960" y="0"/>
                </a:moveTo>
                <a:lnTo>
                  <a:pt x="5331879" y="0"/>
                </a:lnTo>
                <a:cubicBezTo>
                  <a:pt x="5350634" y="0"/>
                  <a:pt x="5365838" y="15204"/>
                  <a:pt x="5365838" y="33960"/>
                </a:cubicBezTo>
                <a:lnTo>
                  <a:pt x="5365838" y="849026"/>
                </a:lnTo>
                <a:cubicBezTo>
                  <a:pt x="5365838" y="867782"/>
                  <a:pt x="5350634" y="882986"/>
                  <a:pt x="5331879" y="882986"/>
                </a:cubicBezTo>
                <a:lnTo>
                  <a:pt x="33960" y="882986"/>
                </a:lnTo>
                <a:cubicBezTo>
                  <a:pt x="15204" y="882986"/>
                  <a:pt x="0" y="867782"/>
                  <a:pt x="0" y="849026"/>
                </a:cubicBezTo>
                <a:lnTo>
                  <a:pt x="0" y="33960"/>
                </a:lnTo>
                <a:cubicBezTo>
                  <a:pt x="0" y="15204"/>
                  <a:pt x="15204" y="0"/>
                  <a:pt x="3396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611298" y="2020680"/>
            <a:ext cx="5221504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3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解析成功率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11298" y="2224446"/>
            <a:ext cx="670730" cy="305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005" b="1">
                <a:solidFill>
                  <a:srgbClr val="E7000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70%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226098" y="2326329"/>
            <a:ext cx="416022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3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不稳定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11298" y="2598017"/>
            <a:ext cx="5162072" cy="101883"/>
          </a:xfrm>
          <a:custGeom>
            <a:avLst/>
            <a:gdLst/>
            <a:ahLst/>
            <a:cxnLst/>
            <a:rect l="l" t="t" r="r" b="b"/>
            <a:pathLst>
              <a:path w="5162072" h="101883">
                <a:moveTo>
                  <a:pt x="50942" y="0"/>
                </a:moveTo>
                <a:lnTo>
                  <a:pt x="5111131" y="0"/>
                </a:lnTo>
                <a:cubicBezTo>
                  <a:pt x="5139265" y="0"/>
                  <a:pt x="5162072" y="22807"/>
                  <a:pt x="5162072" y="50942"/>
                </a:cubicBezTo>
                <a:lnTo>
                  <a:pt x="5162072" y="50942"/>
                </a:lnTo>
                <a:cubicBezTo>
                  <a:pt x="5162072" y="79076"/>
                  <a:pt x="5139265" y="101883"/>
                  <a:pt x="5111131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16" name="Shape 14"/>
          <p:cNvSpPr/>
          <p:nvPr/>
        </p:nvSpPr>
        <p:spPr>
          <a:xfrm>
            <a:off x="611298" y="2598017"/>
            <a:ext cx="3616847" cy="101883"/>
          </a:xfrm>
          <a:custGeom>
            <a:avLst/>
            <a:gdLst/>
            <a:ahLst/>
            <a:cxnLst/>
            <a:rect l="l" t="t" r="r" b="b"/>
            <a:pathLst>
              <a:path w="3616847" h="101883">
                <a:moveTo>
                  <a:pt x="50942" y="0"/>
                </a:moveTo>
                <a:lnTo>
                  <a:pt x="3565905" y="0"/>
                </a:lnTo>
                <a:cubicBezTo>
                  <a:pt x="3594040" y="0"/>
                  <a:pt x="3616847" y="22807"/>
                  <a:pt x="3616847" y="50942"/>
                </a:cubicBezTo>
                <a:lnTo>
                  <a:pt x="3616847" y="50942"/>
                </a:lnTo>
                <a:cubicBezTo>
                  <a:pt x="3616847" y="79076"/>
                  <a:pt x="3594040" y="101883"/>
                  <a:pt x="3565905" y="101883"/>
                </a:cubicBezTo>
                <a:lnTo>
                  <a:pt x="50942" y="101883"/>
                </a:lnTo>
                <a:cubicBezTo>
                  <a:pt x="22807" y="101883"/>
                  <a:pt x="0" y="79076"/>
                  <a:pt x="0" y="50942"/>
                </a:cubicBezTo>
                <a:lnTo>
                  <a:pt x="0" y="50942"/>
                </a:lnTo>
                <a:cubicBezTo>
                  <a:pt x="0" y="22807"/>
                  <a:pt x="22807" y="0"/>
                  <a:pt x="50942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17" name="Shape 15"/>
          <p:cNvSpPr/>
          <p:nvPr/>
        </p:nvSpPr>
        <p:spPr>
          <a:xfrm>
            <a:off x="382061" y="3107432"/>
            <a:ext cx="127354" cy="169805"/>
          </a:xfrm>
          <a:custGeom>
            <a:avLst/>
            <a:gdLst/>
            <a:ahLst/>
            <a:cxnLst/>
            <a:rect l="l" t="t" r="r" b="b"/>
            <a:pathLst>
              <a:path w="127354" h="169805">
                <a:moveTo>
                  <a:pt x="71172" y="5771"/>
                </a:moveTo>
                <a:cubicBezTo>
                  <a:pt x="67027" y="1625"/>
                  <a:pt x="60294" y="1625"/>
                  <a:pt x="56148" y="5771"/>
                </a:cubicBezTo>
                <a:lnTo>
                  <a:pt x="3084" y="58835"/>
                </a:lnTo>
                <a:cubicBezTo>
                  <a:pt x="-1061" y="62980"/>
                  <a:pt x="-1061" y="69713"/>
                  <a:pt x="3084" y="73859"/>
                </a:cubicBezTo>
                <a:cubicBezTo>
                  <a:pt x="7230" y="78004"/>
                  <a:pt x="13962" y="78004"/>
                  <a:pt x="18108" y="73859"/>
                </a:cubicBezTo>
                <a:lnTo>
                  <a:pt x="53064" y="38903"/>
                </a:lnTo>
                <a:lnTo>
                  <a:pt x="53064" y="161845"/>
                </a:lnTo>
                <a:cubicBezTo>
                  <a:pt x="53064" y="167716"/>
                  <a:pt x="57807" y="172458"/>
                  <a:pt x="63677" y="172458"/>
                </a:cubicBezTo>
                <a:cubicBezTo>
                  <a:pt x="69547" y="172458"/>
                  <a:pt x="74290" y="167716"/>
                  <a:pt x="74290" y="161845"/>
                </a:cubicBezTo>
                <a:lnTo>
                  <a:pt x="74290" y="38903"/>
                </a:lnTo>
                <a:lnTo>
                  <a:pt x="109246" y="73859"/>
                </a:lnTo>
                <a:cubicBezTo>
                  <a:pt x="113391" y="78004"/>
                  <a:pt x="120124" y="78004"/>
                  <a:pt x="124269" y="73859"/>
                </a:cubicBezTo>
                <a:cubicBezTo>
                  <a:pt x="128415" y="69713"/>
                  <a:pt x="128415" y="62980"/>
                  <a:pt x="124269" y="58835"/>
                </a:cubicBezTo>
                <a:lnTo>
                  <a:pt x="71205" y="5771"/>
                </a:lnTo>
                <a:close/>
              </a:path>
            </a:pathLst>
          </a:custGeom>
          <a:solidFill>
            <a:srgbClr val="00A63E"/>
          </a:solidFill>
        </p:spPr>
      </p:sp>
      <p:sp>
        <p:nvSpPr>
          <p:cNvPr id="18" name="Text 16"/>
          <p:cNvSpPr/>
          <p:nvPr/>
        </p:nvSpPr>
        <p:spPr>
          <a:xfrm>
            <a:off x="551866" y="3073471"/>
            <a:ext cx="554413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3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优化后（特征注入+JSON精筛）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356591" y="3413081"/>
            <a:ext cx="5654507" cy="679220"/>
          </a:xfrm>
          <a:custGeom>
            <a:avLst/>
            <a:gdLst/>
            <a:ahLst/>
            <a:cxnLst/>
            <a:rect l="l" t="t" r="r" b="b"/>
            <a:pathLst>
              <a:path w="5654507" h="679220">
                <a:moveTo>
                  <a:pt x="33961" y="0"/>
                </a:moveTo>
                <a:lnTo>
                  <a:pt x="5586585" y="0"/>
                </a:lnTo>
                <a:cubicBezTo>
                  <a:pt x="5624097" y="0"/>
                  <a:pt x="5654507" y="30410"/>
                  <a:pt x="5654507" y="67922"/>
                </a:cubicBezTo>
                <a:lnTo>
                  <a:pt x="5654507" y="611298"/>
                </a:lnTo>
                <a:cubicBezTo>
                  <a:pt x="5654507" y="648810"/>
                  <a:pt x="5624097" y="679220"/>
                  <a:pt x="5586585" y="679220"/>
                </a:cubicBez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20" name="Shape 18"/>
          <p:cNvSpPr/>
          <p:nvPr/>
        </p:nvSpPr>
        <p:spPr>
          <a:xfrm>
            <a:off x="356591" y="3413081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33961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1" name="Shape 19"/>
          <p:cNvSpPr/>
          <p:nvPr/>
        </p:nvSpPr>
        <p:spPr>
          <a:xfrm>
            <a:off x="492435" y="3548925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2" name="Text 20"/>
          <p:cNvSpPr/>
          <p:nvPr/>
        </p:nvSpPr>
        <p:spPr>
          <a:xfrm>
            <a:off x="713181" y="3514964"/>
            <a:ext cx="74714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结构鲁棒性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75454" y="3786652"/>
            <a:ext cx="550168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JSON解析成功率提升至</a:t>
            </a:r>
            <a:r>
              <a:rPr lang="en-US" sz="1070" b="1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近乎100%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356591" y="4194184"/>
            <a:ext cx="5654507" cy="679220"/>
          </a:xfrm>
          <a:custGeom>
            <a:avLst/>
            <a:gdLst/>
            <a:ahLst/>
            <a:cxnLst/>
            <a:rect l="l" t="t" r="r" b="b"/>
            <a:pathLst>
              <a:path w="5654507" h="679220">
                <a:moveTo>
                  <a:pt x="33961" y="0"/>
                </a:moveTo>
                <a:lnTo>
                  <a:pt x="5586585" y="0"/>
                </a:lnTo>
                <a:cubicBezTo>
                  <a:pt x="5624097" y="0"/>
                  <a:pt x="5654507" y="30410"/>
                  <a:pt x="5654507" y="67922"/>
                </a:cubicBezTo>
                <a:lnTo>
                  <a:pt x="5654507" y="611298"/>
                </a:lnTo>
                <a:cubicBezTo>
                  <a:pt x="5654507" y="648810"/>
                  <a:pt x="5624097" y="679220"/>
                  <a:pt x="5586585" y="679220"/>
                </a:cubicBez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25" name="Shape 23"/>
          <p:cNvSpPr/>
          <p:nvPr/>
        </p:nvSpPr>
        <p:spPr>
          <a:xfrm>
            <a:off x="356591" y="4194184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33961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6" name="Shape 24"/>
          <p:cNvSpPr/>
          <p:nvPr/>
        </p:nvSpPr>
        <p:spPr>
          <a:xfrm>
            <a:off x="492435" y="4330028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7" name="Text 25"/>
          <p:cNvSpPr/>
          <p:nvPr/>
        </p:nvSpPr>
        <p:spPr>
          <a:xfrm>
            <a:off x="713181" y="4296067"/>
            <a:ext cx="993359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局部Precision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475454" y="4567755"/>
            <a:ext cx="550168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概念特征明确实体边界，局部Precision相对提升</a:t>
            </a:r>
            <a:r>
              <a:rPr lang="en-US" sz="1070" b="1">
                <a:solidFill>
                  <a:srgbClr val="00A63E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5%-8%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356591" y="4975287"/>
            <a:ext cx="5654507" cy="679220"/>
          </a:xfrm>
          <a:custGeom>
            <a:avLst/>
            <a:gdLst/>
            <a:ahLst/>
            <a:cxnLst/>
            <a:rect l="l" t="t" r="r" b="b"/>
            <a:pathLst>
              <a:path w="5654507" h="679220">
                <a:moveTo>
                  <a:pt x="33961" y="0"/>
                </a:moveTo>
                <a:lnTo>
                  <a:pt x="5586585" y="0"/>
                </a:lnTo>
                <a:cubicBezTo>
                  <a:pt x="5624097" y="0"/>
                  <a:pt x="5654507" y="30410"/>
                  <a:pt x="5654507" y="67922"/>
                </a:cubicBezTo>
                <a:lnTo>
                  <a:pt x="5654507" y="611298"/>
                </a:lnTo>
                <a:cubicBezTo>
                  <a:pt x="5654507" y="648810"/>
                  <a:pt x="5624097" y="679220"/>
                  <a:pt x="5586585" y="679220"/>
                </a:cubicBez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30" name="Shape 28"/>
          <p:cNvSpPr/>
          <p:nvPr/>
        </p:nvSpPr>
        <p:spPr>
          <a:xfrm>
            <a:off x="356591" y="4975287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33961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33961" y="679220"/>
                </a:lnTo>
                <a:cubicBezTo>
                  <a:pt x="15205" y="679220"/>
                  <a:pt x="0" y="664015"/>
                  <a:pt x="0" y="64525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31" name="Shape 29"/>
          <p:cNvSpPr/>
          <p:nvPr/>
        </p:nvSpPr>
        <p:spPr>
          <a:xfrm>
            <a:off x="492435" y="5111131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32" name="Text 30"/>
          <p:cNvSpPr/>
          <p:nvPr/>
        </p:nvSpPr>
        <p:spPr>
          <a:xfrm>
            <a:off x="713181" y="5077170"/>
            <a:ext cx="74714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逻辑自洽度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475454" y="5348858"/>
            <a:ext cx="550168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情感词典约束使生成理由与最终判决更对齐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6203933" y="115467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21226" y="21226"/>
                </a:moveTo>
                <a:cubicBezTo>
                  <a:pt x="21226" y="15355"/>
                  <a:pt x="16483" y="10613"/>
                  <a:pt x="10613" y="10613"/>
                </a:cubicBezTo>
                <a:cubicBezTo>
                  <a:pt x="4743" y="10613"/>
                  <a:pt x="0" y="15355"/>
                  <a:pt x="0" y="21226"/>
                </a:cubicBezTo>
                <a:lnTo>
                  <a:pt x="0" y="132660"/>
                </a:lnTo>
                <a:cubicBezTo>
                  <a:pt x="0" y="147319"/>
                  <a:pt x="11873" y="159192"/>
                  <a:pt x="26532" y="159192"/>
                </a:cubicBezTo>
                <a:lnTo>
                  <a:pt x="159192" y="159192"/>
                </a:lnTo>
                <a:cubicBezTo>
                  <a:pt x="165062" y="159192"/>
                  <a:pt x="169805" y="154450"/>
                  <a:pt x="169805" y="148579"/>
                </a:cubicBezTo>
                <a:cubicBezTo>
                  <a:pt x="169805" y="142709"/>
                  <a:pt x="165062" y="137967"/>
                  <a:pt x="159192" y="137967"/>
                </a:cubicBezTo>
                <a:lnTo>
                  <a:pt x="26532" y="137967"/>
                </a:lnTo>
                <a:cubicBezTo>
                  <a:pt x="23614" y="137967"/>
                  <a:pt x="21226" y="135579"/>
                  <a:pt x="21226" y="132660"/>
                </a:cubicBezTo>
                <a:lnTo>
                  <a:pt x="21226" y="21226"/>
                </a:lnTo>
                <a:close/>
                <a:moveTo>
                  <a:pt x="156075" y="49947"/>
                </a:moveTo>
                <a:cubicBezTo>
                  <a:pt x="160220" y="45801"/>
                  <a:pt x="160220" y="39068"/>
                  <a:pt x="156075" y="34923"/>
                </a:cubicBezTo>
                <a:cubicBezTo>
                  <a:pt x="151929" y="30777"/>
                  <a:pt x="145197" y="30777"/>
                  <a:pt x="141051" y="34923"/>
                </a:cubicBezTo>
                <a:lnTo>
                  <a:pt x="106128" y="69879"/>
                </a:lnTo>
                <a:lnTo>
                  <a:pt x="87091" y="50875"/>
                </a:lnTo>
                <a:cubicBezTo>
                  <a:pt x="82946" y="46730"/>
                  <a:pt x="76213" y="46730"/>
                  <a:pt x="72068" y="50875"/>
                </a:cubicBezTo>
                <a:lnTo>
                  <a:pt x="40229" y="82714"/>
                </a:lnTo>
                <a:cubicBezTo>
                  <a:pt x="36084" y="86859"/>
                  <a:pt x="36084" y="93592"/>
                  <a:pt x="40229" y="97737"/>
                </a:cubicBezTo>
                <a:cubicBezTo>
                  <a:pt x="44375" y="101883"/>
                  <a:pt x="51107" y="101883"/>
                  <a:pt x="55253" y="97737"/>
                </a:cubicBezTo>
                <a:lnTo>
                  <a:pt x="79596" y="73394"/>
                </a:lnTo>
                <a:lnTo>
                  <a:pt x="98633" y="92431"/>
                </a:lnTo>
                <a:cubicBezTo>
                  <a:pt x="102778" y="96577"/>
                  <a:pt x="109511" y="96577"/>
                  <a:pt x="113657" y="92431"/>
                </a:cubicBezTo>
                <a:lnTo>
                  <a:pt x="156108" y="4998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6394963" y="1120713"/>
            <a:ext cx="554413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3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JSON解析鲁棒性对比</a:t>
            </a:r>
            <a:endParaRPr lang="en-US" sz="1600"/>
          </a:p>
        </p:txBody>
      </p:sp>
      <p:pic>
        <p:nvPicPr>
          <p:cNvPr id="36" name="Image 0" descr="https://kimi-img.moonshot.cn/pub/slides/26-03-17-20:24:05-d6skfpamvvhla4s0sva0.png"/>
          <p:cNvPicPr>
            <a:picLocks noChangeAspect="1"/>
          </p:cNvPicPr>
          <p:nvPr/>
        </p:nvPicPr>
        <p:blipFill>
          <a:blip r:embed="rId1"/>
          <a:srcRect t="34" b="34"/>
          <a:stretch>
            <a:fillRect/>
          </a:stretch>
        </p:blipFill>
        <p:spPr>
          <a:xfrm>
            <a:off x="6182707" y="1460323"/>
            <a:ext cx="5009248" cy="1867855"/>
          </a:xfrm>
          <a:prstGeom prst="roundRect">
            <a:avLst>
              <a:gd name="adj" fmla="val 0"/>
            </a:avLst>
          </a:prstGeom>
        </p:spPr>
      </p:pic>
      <p:sp>
        <p:nvSpPr>
          <p:cNvPr id="37" name="Text 34"/>
          <p:cNvSpPr/>
          <p:nvPr/>
        </p:nvSpPr>
        <p:spPr>
          <a:xfrm>
            <a:off x="6152991" y="3362139"/>
            <a:ext cx="573091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3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Figure 2: JSON解析成功率对比</a:t>
            </a:r>
            <a:endParaRPr lang="en-US" sz="1600"/>
          </a:p>
        </p:txBody>
      </p:sp>
      <p:sp>
        <p:nvSpPr>
          <p:cNvPr id="38" name="Shape 35"/>
          <p:cNvSpPr/>
          <p:nvPr/>
        </p:nvSpPr>
        <p:spPr>
          <a:xfrm>
            <a:off x="6203933" y="370174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48579" y="84903"/>
                </a:moveTo>
                <a:cubicBezTo>
                  <a:pt x="148579" y="49758"/>
                  <a:pt x="120047" y="21226"/>
                  <a:pt x="84903" y="21226"/>
                </a:cubicBezTo>
                <a:cubicBezTo>
                  <a:pt x="49758" y="21226"/>
                  <a:pt x="21226" y="49758"/>
                  <a:pt x="21226" y="84903"/>
                </a:cubicBezTo>
                <a:cubicBezTo>
                  <a:pt x="21226" y="120047"/>
                  <a:pt x="49758" y="148579"/>
                  <a:pt x="84903" y="148579"/>
                </a:cubicBezTo>
                <a:cubicBezTo>
                  <a:pt x="120047" y="148579"/>
                  <a:pt x="148579" y="120047"/>
                  <a:pt x="148579" y="84903"/>
                </a:cubicBezTo>
                <a:close/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84903" y="111435"/>
                </a:moveTo>
                <a:cubicBezTo>
                  <a:pt x="99546" y="111435"/>
                  <a:pt x="111435" y="99546"/>
                  <a:pt x="111435" y="84903"/>
                </a:cubicBezTo>
                <a:cubicBezTo>
                  <a:pt x="111435" y="70259"/>
                  <a:pt x="99546" y="58370"/>
                  <a:pt x="84903" y="58370"/>
                </a:cubicBezTo>
                <a:cubicBezTo>
                  <a:pt x="70259" y="58370"/>
                  <a:pt x="58370" y="70259"/>
                  <a:pt x="58370" y="84903"/>
                </a:cubicBezTo>
                <a:cubicBezTo>
                  <a:pt x="58370" y="99546"/>
                  <a:pt x="70259" y="111435"/>
                  <a:pt x="84903" y="111435"/>
                </a:cubicBezTo>
                <a:close/>
                <a:moveTo>
                  <a:pt x="84903" y="37145"/>
                </a:moveTo>
                <a:cubicBezTo>
                  <a:pt x="111261" y="37145"/>
                  <a:pt x="132660" y="58544"/>
                  <a:pt x="132660" y="84903"/>
                </a:cubicBezTo>
                <a:cubicBezTo>
                  <a:pt x="132660" y="111261"/>
                  <a:pt x="111261" y="132660"/>
                  <a:pt x="84903" y="132660"/>
                </a:cubicBezTo>
                <a:cubicBezTo>
                  <a:pt x="58544" y="132660"/>
                  <a:pt x="37145" y="111261"/>
                  <a:pt x="37145" y="84903"/>
                </a:cubicBezTo>
                <a:cubicBezTo>
                  <a:pt x="37145" y="58544"/>
                  <a:pt x="58544" y="37145"/>
                  <a:pt x="84903" y="37145"/>
                </a:cubicBezTo>
                <a:close/>
                <a:moveTo>
                  <a:pt x="74290" y="84903"/>
                </a:moveTo>
                <a:cubicBezTo>
                  <a:pt x="74290" y="79045"/>
                  <a:pt x="79045" y="74290"/>
                  <a:pt x="84903" y="74290"/>
                </a:cubicBezTo>
                <a:cubicBezTo>
                  <a:pt x="90760" y="74290"/>
                  <a:pt x="95515" y="79045"/>
                  <a:pt x="95515" y="84903"/>
                </a:cubicBezTo>
                <a:cubicBezTo>
                  <a:pt x="95515" y="90760"/>
                  <a:pt x="90760" y="95515"/>
                  <a:pt x="84903" y="95515"/>
                </a:cubicBezTo>
                <a:cubicBezTo>
                  <a:pt x="79045" y="95515"/>
                  <a:pt x="74290" y="90760"/>
                  <a:pt x="74290" y="8490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Text 36"/>
          <p:cNvSpPr/>
          <p:nvPr/>
        </p:nvSpPr>
        <p:spPr>
          <a:xfrm>
            <a:off x="6394963" y="3667788"/>
            <a:ext cx="554413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3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预估F1目标提升</a:t>
            </a:r>
            <a:endParaRPr lang="en-US" sz="1600"/>
          </a:p>
        </p:txBody>
      </p:sp>
      <p:pic>
        <p:nvPicPr>
          <p:cNvPr id="40" name="Image 1" descr="https://kimi-img.moonshot.cn/pub/slides/26-03-17-20:24:05-d6skfpff2enaqp005b40.png"/>
          <p:cNvPicPr>
            <a:picLocks noChangeAspect="1"/>
          </p:cNvPicPr>
          <p:nvPr/>
        </p:nvPicPr>
        <p:blipFill>
          <a:blip r:embed="rId2"/>
          <a:srcRect t="34" b="34"/>
          <a:stretch>
            <a:fillRect/>
          </a:stretch>
        </p:blipFill>
        <p:spPr>
          <a:xfrm>
            <a:off x="6182707" y="4007398"/>
            <a:ext cx="5009248" cy="1867855"/>
          </a:xfrm>
          <a:prstGeom prst="roundRect">
            <a:avLst>
              <a:gd name="adj" fmla="val 0"/>
            </a:avLst>
          </a:prstGeom>
        </p:spPr>
      </p:pic>
      <p:sp>
        <p:nvSpPr>
          <p:cNvPr id="41" name="Text 37"/>
          <p:cNvSpPr/>
          <p:nvPr/>
        </p:nvSpPr>
        <p:spPr>
          <a:xfrm>
            <a:off x="6152991" y="5909214"/>
            <a:ext cx="573091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3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Figure 3: Baseline vs Optimized Target F1对比 </a:t>
            </a:r>
            <a:r>
              <a:rPr lang="en-US" sz="67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*预估结果，待后续实验验证</a:t>
            </a:r>
            <a:endParaRPr lang="en-US" sz="1600"/>
          </a:p>
        </p:txBody>
      </p:sp>
      <p:sp>
        <p:nvSpPr>
          <p:cNvPr id="42" name="Shape 38"/>
          <p:cNvSpPr/>
          <p:nvPr/>
        </p:nvSpPr>
        <p:spPr>
          <a:xfrm>
            <a:off x="339610" y="6214864"/>
            <a:ext cx="11512780" cy="407532"/>
          </a:xfrm>
          <a:custGeom>
            <a:avLst/>
            <a:gdLst/>
            <a:ahLst/>
            <a:cxnLst/>
            <a:rect l="l" t="t" r="r" b="b"/>
            <a:pathLst>
              <a:path w="11512780" h="407532">
                <a:moveTo>
                  <a:pt x="67923" y="0"/>
                </a:moveTo>
                <a:lnTo>
                  <a:pt x="11444857" y="0"/>
                </a:lnTo>
                <a:cubicBezTo>
                  <a:pt x="11482370" y="0"/>
                  <a:pt x="11512780" y="30410"/>
                  <a:pt x="11512780" y="67923"/>
                </a:cubicBezTo>
                <a:lnTo>
                  <a:pt x="11512780" y="339609"/>
                </a:lnTo>
                <a:cubicBezTo>
                  <a:pt x="11512780" y="377122"/>
                  <a:pt x="11482370" y="407532"/>
                  <a:pt x="11444857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3" name="Shape 39"/>
          <p:cNvSpPr/>
          <p:nvPr/>
        </p:nvSpPr>
        <p:spPr>
          <a:xfrm>
            <a:off x="3057446" y="6350708"/>
            <a:ext cx="152825" cy="135844"/>
          </a:xfrm>
          <a:custGeom>
            <a:avLst/>
            <a:gdLst/>
            <a:ahLst/>
            <a:cxnLst/>
            <a:rect l="l" t="t" r="r" b="b"/>
            <a:pathLst>
              <a:path w="152825" h="135844">
                <a:moveTo>
                  <a:pt x="82117" y="-5015"/>
                </a:moveTo>
                <a:cubicBezTo>
                  <a:pt x="81029" y="-7137"/>
                  <a:pt x="78827" y="-8490"/>
                  <a:pt x="76439" y="-8490"/>
                </a:cubicBezTo>
                <a:cubicBezTo>
                  <a:pt x="74051" y="-8490"/>
                  <a:pt x="71849" y="-7137"/>
                  <a:pt x="70761" y="-5015"/>
                </a:cubicBezTo>
                <a:lnTo>
                  <a:pt x="51233" y="33245"/>
                </a:lnTo>
                <a:lnTo>
                  <a:pt x="8809" y="39984"/>
                </a:lnTo>
                <a:cubicBezTo>
                  <a:pt x="6447" y="40355"/>
                  <a:pt x="4484" y="42027"/>
                  <a:pt x="3741" y="44308"/>
                </a:cubicBezTo>
                <a:cubicBezTo>
                  <a:pt x="2998" y="46590"/>
                  <a:pt x="3608" y="49084"/>
                  <a:pt x="5280" y="50782"/>
                </a:cubicBezTo>
                <a:lnTo>
                  <a:pt x="35633" y="81161"/>
                </a:lnTo>
                <a:lnTo>
                  <a:pt x="28946" y="123586"/>
                </a:lnTo>
                <a:cubicBezTo>
                  <a:pt x="28575" y="125948"/>
                  <a:pt x="29557" y="128335"/>
                  <a:pt x="31494" y="129742"/>
                </a:cubicBezTo>
                <a:cubicBezTo>
                  <a:pt x="33430" y="131148"/>
                  <a:pt x="35977" y="131360"/>
                  <a:pt x="38127" y="130272"/>
                </a:cubicBezTo>
                <a:lnTo>
                  <a:pt x="76439" y="110798"/>
                </a:lnTo>
                <a:lnTo>
                  <a:pt x="114725" y="130272"/>
                </a:lnTo>
                <a:cubicBezTo>
                  <a:pt x="116847" y="131360"/>
                  <a:pt x="119421" y="131148"/>
                  <a:pt x="121358" y="129742"/>
                </a:cubicBezTo>
                <a:cubicBezTo>
                  <a:pt x="123294" y="128335"/>
                  <a:pt x="124276" y="125974"/>
                  <a:pt x="123905" y="123586"/>
                </a:cubicBezTo>
                <a:lnTo>
                  <a:pt x="117192" y="81161"/>
                </a:lnTo>
                <a:lnTo>
                  <a:pt x="147545" y="50782"/>
                </a:lnTo>
                <a:cubicBezTo>
                  <a:pt x="149243" y="49084"/>
                  <a:pt x="149826" y="46590"/>
                  <a:pt x="149083" y="44308"/>
                </a:cubicBezTo>
                <a:cubicBezTo>
                  <a:pt x="148341" y="42027"/>
                  <a:pt x="146404" y="40355"/>
                  <a:pt x="144016" y="39984"/>
                </a:cubicBezTo>
                <a:lnTo>
                  <a:pt x="101618" y="33245"/>
                </a:lnTo>
                <a:lnTo>
                  <a:pt x="82117" y="-501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0"/>
          <p:cNvSpPr/>
          <p:nvPr/>
        </p:nvSpPr>
        <p:spPr>
          <a:xfrm>
            <a:off x="622745" y="6316747"/>
            <a:ext cx="1116172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7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显式特征注入有效缓解了小模型的"常识盲区"，在困难样本上初步验证了逻辑自洽性与工程稳定性</a:t>
            </a:r>
            <a:endParaRPr lang="en-US" sz="1600"/>
          </a:p>
        </p:txBody>
      </p:sp>
      <p:sp>
        <p:nvSpPr>
          <p:cNvPr id="45" name="Text 41"/>
          <p:cNvSpPr/>
          <p:nvPr/>
        </p:nvSpPr>
        <p:spPr>
          <a:xfrm>
            <a:off x="280178" y="6690318"/>
            <a:ext cx="11572212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93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58337"/>
            <a:ext cx="383933" cy="273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61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4.1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25805" y="340995"/>
            <a:ext cx="3880485" cy="307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015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关键瓶颈分析</a:t>
            </a:r>
            <a:r>
              <a:rPr lang="zh-CN" altLang="en-US" sz="2015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zh-CN" altLang="en-US" sz="2015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潜在解决方案</a:t>
            </a:r>
            <a:endParaRPr lang="zh-CN" altLang="en-US" sz="2015" b="1">
              <a:solidFill>
                <a:srgbClr val="1F2937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1274" y="716675"/>
            <a:ext cx="682547" cy="34127"/>
          </a:xfrm>
          <a:custGeom>
            <a:avLst/>
            <a:gdLst/>
            <a:ahLst/>
            <a:cxnLst/>
            <a:rect l="l" t="t" r="r" b="b"/>
            <a:pathLst>
              <a:path w="682547" h="34127">
                <a:moveTo>
                  <a:pt x="0" y="0"/>
                </a:moveTo>
                <a:lnTo>
                  <a:pt x="682547" y="0"/>
                </a:lnTo>
                <a:lnTo>
                  <a:pt x="682547" y="34127"/>
                </a:lnTo>
                <a:lnTo>
                  <a:pt x="0" y="3412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2" name="Shape 49"/>
          <p:cNvSpPr/>
          <p:nvPr/>
        </p:nvSpPr>
        <p:spPr>
          <a:xfrm>
            <a:off x="341274" y="5869906"/>
            <a:ext cx="11509453" cy="409528"/>
          </a:xfrm>
          <a:custGeom>
            <a:avLst/>
            <a:gdLst/>
            <a:ahLst/>
            <a:cxnLst/>
            <a:rect l="l" t="t" r="r" b="b"/>
            <a:pathLst>
              <a:path w="11509453" h="409528">
                <a:moveTo>
                  <a:pt x="68256" y="0"/>
                </a:moveTo>
                <a:lnTo>
                  <a:pt x="11441197" y="0"/>
                </a:lnTo>
                <a:cubicBezTo>
                  <a:pt x="11478893" y="0"/>
                  <a:pt x="11509453" y="30559"/>
                  <a:pt x="11509453" y="68256"/>
                </a:cubicBezTo>
                <a:lnTo>
                  <a:pt x="11509453" y="341272"/>
                </a:lnTo>
                <a:cubicBezTo>
                  <a:pt x="11509453" y="378969"/>
                  <a:pt x="11478893" y="409528"/>
                  <a:pt x="11441197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3" name="Shape 50"/>
          <p:cNvSpPr/>
          <p:nvPr/>
        </p:nvSpPr>
        <p:spPr>
          <a:xfrm>
            <a:off x="4808865" y="6006416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51"/>
          <p:cNvSpPr/>
          <p:nvPr/>
        </p:nvSpPr>
        <p:spPr>
          <a:xfrm>
            <a:off x="626019" y="5972288"/>
            <a:ext cx="11156453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75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瓶颈已定位，下一步重点在复验与消融</a:t>
            </a:r>
            <a:endParaRPr lang="en-US" sz="1600"/>
          </a:p>
        </p:txBody>
      </p:sp>
      <p:sp>
        <p:nvSpPr>
          <p:cNvPr id="55" name="Text 52"/>
          <p:cNvSpPr/>
          <p:nvPr/>
        </p:nvSpPr>
        <p:spPr>
          <a:xfrm>
            <a:off x="281551" y="6347689"/>
            <a:ext cx="11569176" cy="170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94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  <p:sp>
        <p:nvSpPr>
          <p:cNvPr id="5" name="Shape 5"/>
          <p:cNvSpPr/>
          <p:nvPr>
            <p:custDataLst>
              <p:tags r:id="rId1"/>
            </p:custDataLst>
          </p:nvPr>
        </p:nvSpPr>
        <p:spPr>
          <a:xfrm>
            <a:off x="358337" y="1228585"/>
            <a:ext cx="5656610" cy="716675"/>
          </a:xfrm>
          <a:custGeom>
            <a:avLst/>
            <a:gdLst/>
            <a:ahLst/>
            <a:cxnLst/>
            <a:rect l="l" t="t" r="r" b="b"/>
            <a:pathLst>
              <a:path w="5656610" h="716675">
                <a:moveTo>
                  <a:pt x="34127" y="0"/>
                </a:moveTo>
                <a:lnTo>
                  <a:pt x="5588354" y="0"/>
                </a:lnTo>
                <a:cubicBezTo>
                  <a:pt x="5626051" y="0"/>
                  <a:pt x="5656610" y="30559"/>
                  <a:pt x="5656610" y="68256"/>
                </a:cubicBezTo>
                <a:lnTo>
                  <a:pt x="5656610" y="648419"/>
                </a:lnTo>
                <a:cubicBezTo>
                  <a:pt x="5656610" y="686115"/>
                  <a:pt x="5626051" y="716675"/>
                  <a:pt x="5588354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6" name="Shape 6"/>
          <p:cNvSpPr/>
          <p:nvPr>
            <p:custDataLst>
              <p:tags r:id="rId2"/>
            </p:custDataLst>
          </p:nvPr>
        </p:nvSpPr>
        <p:spPr>
          <a:xfrm>
            <a:off x="358337" y="1228585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1" name="Shape 7"/>
          <p:cNvSpPr/>
          <p:nvPr>
            <p:custDataLst>
              <p:tags r:id="rId3"/>
            </p:custDataLst>
          </p:nvPr>
        </p:nvSpPr>
        <p:spPr>
          <a:xfrm>
            <a:off x="477783" y="1330967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32" name="Text 8"/>
          <p:cNvSpPr/>
          <p:nvPr>
            <p:custDataLst>
              <p:tags r:id="rId4"/>
            </p:custDataLst>
          </p:nvPr>
        </p:nvSpPr>
        <p:spPr>
          <a:xfrm>
            <a:off x="447922" y="1330967"/>
            <a:ext cx="332742" cy="273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/>
          </a:p>
        </p:txBody>
      </p:sp>
      <p:sp>
        <p:nvSpPr>
          <p:cNvPr id="37" name="Text 9"/>
          <p:cNvSpPr/>
          <p:nvPr>
            <p:custDataLst>
              <p:tags r:id="rId5"/>
            </p:custDataLst>
          </p:nvPr>
        </p:nvSpPr>
        <p:spPr>
          <a:xfrm>
            <a:off x="853184" y="1365094"/>
            <a:ext cx="614293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算力约束</a:t>
            </a:r>
            <a:endParaRPr lang="en-US" sz="1600"/>
          </a:p>
        </p:txBody>
      </p:sp>
      <p:sp>
        <p:nvSpPr>
          <p:cNvPr id="38" name="Text 10"/>
          <p:cNvSpPr/>
          <p:nvPr>
            <p:custDataLst>
              <p:tags r:id="rId6"/>
            </p:custDataLst>
          </p:nvPr>
        </p:nvSpPr>
        <p:spPr>
          <a:xfrm>
            <a:off x="853184" y="1638113"/>
            <a:ext cx="5127636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大模型稳定复现困难，环境不稳定（Ollama 502错误），影响实验进度与结果可信度</a:t>
            </a:r>
            <a:endParaRPr lang="en-US" sz="1600"/>
          </a:p>
        </p:txBody>
      </p:sp>
      <p:sp>
        <p:nvSpPr>
          <p:cNvPr id="39" name="Shape 11"/>
          <p:cNvSpPr/>
          <p:nvPr>
            <p:custDataLst>
              <p:tags r:id="rId7"/>
            </p:custDataLst>
          </p:nvPr>
        </p:nvSpPr>
        <p:spPr>
          <a:xfrm>
            <a:off x="358337" y="2013514"/>
            <a:ext cx="5656610" cy="921439"/>
          </a:xfrm>
          <a:custGeom>
            <a:avLst/>
            <a:gdLst/>
            <a:ahLst/>
            <a:cxnLst/>
            <a:rect l="l" t="t" r="r" b="b"/>
            <a:pathLst>
              <a:path w="5656610" h="921439">
                <a:moveTo>
                  <a:pt x="34127" y="0"/>
                </a:moveTo>
                <a:lnTo>
                  <a:pt x="5588359" y="0"/>
                </a:lnTo>
                <a:cubicBezTo>
                  <a:pt x="5626053" y="0"/>
                  <a:pt x="5656610" y="30557"/>
                  <a:pt x="5656610" y="68251"/>
                </a:cubicBezTo>
                <a:lnTo>
                  <a:pt x="5656610" y="853188"/>
                </a:lnTo>
                <a:cubicBezTo>
                  <a:pt x="5656610" y="890882"/>
                  <a:pt x="5626053" y="921439"/>
                  <a:pt x="5588359" y="921439"/>
                </a:cubicBezTo>
                <a:lnTo>
                  <a:pt x="34127" y="921439"/>
                </a:lnTo>
                <a:cubicBezTo>
                  <a:pt x="15279" y="921439"/>
                  <a:pt x="0" y="906159"/>
                  <a:pt x="0" y="887311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F7ED"/>
          </a:solidFill>
        </p:spPr>
      </p:sp>
      <p:sp>
        <p:nvSpPr>
          <p:cNvPr id="40" name="Shape 12"/>
          <p:cNvSpPr/>
          <p:nvPr>
            <p:custDataLst>
              <p:tags r:id="rId8"/>
            </p:custDataLst>
          </p:nvPr>
        </p:nvSpPr>
        <p:spPr>
          <a:xfrm>
            <a:off x="358337" y="2013514"/>
            <a:ext cx="34127" cy="921439"/>
          </a:xfrm>
          <a:custGeom>
            <a:avLst/>
            <a:gdLst/>
            <a:ahLst/>
            <a:cxnLst/>
            <a:rect l="l" t="t" r="r" b="b"/>
            <a:pathLst>
              <a:path w="34127" h="921439">
                <a:moveTo>
                  <a:pt x="34127" y="0"/>
                </a:moveTo>
                <a:lnTo>
                  <a:pt x="34127" y="0"/>
                </a:lnTo>
                <a:lnTo>
                  <a:pt x="34127" y="921439"/>
                </a:lnTo>
                <a:lnTo>
                  <a:pt x="34127" y="921439"/>
                </a:lnTo>
                <a:cubicBezTo>
                  <a:pt x="15279" y="921439"/>
                  <a:pt x="0" y="906159"/>
                  <a:pt x="0" y="887311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41" name="Shape 13"/>
          <p:cNvSpPr/>
          <p:nvPr>
            <p:custDataLst>
              <p:tags r:id="rId9"/>
            </p:custDataLst>
          </p:nvPr>
        </p:nvSpPr>
        <p:spPr>
          <a:xfrm>
            <a:off x="477783" y="2115896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42" name="Text 14"/>
          <p:cNvSpPr/>
          <p:nvPr>
            <p:custDataLst>
              <p:tags r:id="rId10"/>
            </p:custDataLst>
          </p:nvPr>
        </p:nvSpPr>
        <p:spPr>
          <a:xfrm>
            <a:off x="447922" y="2115896"/>
            <a:ext cx="332742" cy="273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/>
          </a:p>
        </p:txBody>
      </p:sp>
      <p:sp>
        <p:nvSpPr>
          <p:cNvPr id="43" name="Text 15"/>
          <p:cNvSpPr/>
          <p:nvPr>
            <p:custDataLst>
              <p:tags r:id="rId11"/>
            </p:custDataLst>
          </p:nvPr>
        </p:nvSpPr>
        <p:spPr>
          <a:xfrm>
            <a:off x="853184" y="2150024"/>
            <a:ext cx="614293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推理约束</a:t>
            </a:r>
            <a:endParaRPr lang="en-US" sz="1600"/>
          </a:p>
        </p:txBody>
      </p:sp>
      <p:sp>
        <p:nvSpPr>
          <p:cNvPr id="44" name="Text 16"/>
          <p:cNvSpPr/>
          <p:nvPr>
            <p:custDataLst>
              <p:tags r:id="rId12"/>
            </p:custDataLst>
          </p:nvPr>
        </p:nvSpPr>
        <p:spPr>
          <a:xfrm>
            <a:off x="853184" y="2423043"/>
            <a:ext cx="5127636" cy="409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3B小模型对复杂CoT（Chain-of-Thought）敏感，性能波动明显，Enhanced版本完全崩溃</a:t>
            </a:r>
            <a:endParaRPr lang="en-US" sz="1600"/>
          </a:p>
        </p:txBody>
      </p:sp>
      <p:sp>
        <p:nvSpPr>
          <p:cNvPr id="45" name="Shape 17"/>
          <p:cNvSpPr/>
          <p:nvPr>
            <p:custDataLst>
              <p:tags r:id="rId13"/>
            </p:custDataLst>
          </p:nvPr>
        </p:nvSpPr>
        <p:spPr>
          <a:xfrm>
            <a:off x="358337" y="3003208"/>
            <a:ext cx="5656610" cy="921439"/>
          </a:xfrm>
          <a:custGeom>
            <a:avLst/>
            <a:gdLst/>
            <a:ahLst/>
            <a:cxnLst/>
            <a:rect l="l" t="t" r="r" b="b"/>
            <a:pathLst>
              <a:path w="5656610" h="921439">
                <a:moveTo>
                  <a:pt x="34127" y="0"/>
                </a:moveTo>
                <a:lnTo>
                  <a:pt x="5588359" y="0"/>
                </a:lnTo>
                <a:cubicBezTo>
                  <a:pt x="5626053" y="0"/>
                  <a:pt x="5656610" y="30557"/>
                  <a:pt x="5656610" y="68251"/>
                </a:cubicBezTo>
                <a:lnTo>
                  <a:pt x="5656610" y="853188"/>
                </a:lnTo>
                <a:cubicBezTo>
                  <a:pt x="5656610" y="890882"/>
                  <a:pt x="5626053" y="921439"/>
                  <a:pt x="5588359" y="921439"/>
                </a:cubicBezTo>
                <a:lnTo>
                  <a:pt x="34127" y="921439"/>
                </a:lnTo>
                <a:cubicBezTo>
                  <a:pt x="15279" y="921439"/>
                  <a:pt x="0" y="906159"/>
                  <a:pt x="0" y="887311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46" name="Shape 18"/>
          <p:cNvSpPr/>
          <p:nvPr>
            <p:custDataLst>
              <p:tags r:id="rId14"/>
            </p:custDataLst>
          </p:nvPr>
        </p:nvSpPr>
        <p:spPr>
          <a:xfrm>
            <a:off x="358337" y="3003208"/>
            <a:ext cx="34127" cy="921439"/>
          </a:xfrm>
          <a:custGeom>
            <a:avLst/>
            <a:gdLst/>
            <a:ahLst/>
            <a:cxnLst/>
            <a:rect l="l" t="t" r="r" b="b"/>
            <a:pathLst>
              <a:path w="34127" h="921439">
                <a:moveTo>
                  <a:pt x="34127" y="0"/>
                </a:moveTo>
                <a:lnTo>
                  <a:pt x="34127" y="0"/>
                </a:lnTo>
                <a:lnTo>
                  <a:pt x="34127" y="921439"/>
                </a:lnTo>
                <a:lnTo>
                  <a:pt x="34127" y="921439"/>
                </a:lnTo>
                <a:cubicBezTo>
                  <a:pt x="15279" y="921439"/>
                  <a:pt x="0" y="906159"/>
                  <a:pt x="0" y="887311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47" name="Shape 19"/>
          <p:cNvSpPr/>
          <p:nvPr>
            <p:custDataLst>
              <p:tags r:id="rId15"/>
            </p:custDataLst>
          </p:nvPr>
        </p:nvSpPr>
        <p:spPr>
          <a:xfrm>
            <a:off x="477783" y="3105590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48" name="Text 20"/>
          <p:cNvSpPr/>
          <p:nvPr>
            <p:custDataLst>
              <p:tags r:id="rId16"/>
            </p:custDataLst>
          </p:nvPr>
        </p:nvSpPr>
        <p:spPr>
          <a:xfrm>
            <a:off x="447922" y="3105590"/>
            <a:ext cx="332742" cy="273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/>
          </a:p>
        </p:txBody>
      </p:sp>
      <p:sp>
        <p:nvSpPr>
          <p:cNvPr id="49" name="Text 21"/>
          <p:cNvSpPr/>
          <p:nvPr>
            <p:custDataLst>
              <p:tags r:id="rId17"/>
            </p:custDataLst>
          </p:nvPr>
        </p:nvSpPr>
        <p:spPr>
          <a:xfrm>
            <a:off x="853184" y="3139717"/>
            <a:ext cx="887311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知识注入噪声</a:t>
            </a:r>
            <a:endParaRPr lang="en-US" sz="1600"/>
          </a:p>
        </p:txBody>
      </p:sp>
      <p:sp>
        <p:nvSpPr>
          <p:cNvPr id="50" name="Text 22"/>
          <p:cNvSpPr/>
          <p:nvPr>
            <p:custDataLst>
              <p:tags r:id="rId18"/>
            </p:custDataLst>
          </p:nvPr>
        </p:nvSpPr>
        <p:spPr>
          <a:xfrm>
            <a:off x="853184" y="3412736"/>
            <a:ext cx="5127636" cy="409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隐喻识别仍需进一步收敛与边界清晰化。知识图谱（ConceptNet）的引入虽然增强语义理解，但也带来了噪声</a:t>
            </a:r>
            <a:endParaRPr lang="en-US" sz="1600"/>
          </a:p>
        </p:txBody>
      </p:sp>
      <p:sp>
        <p:nvSpPr>
          <p:cNvPr id="51" name="Shape 23"/>
          <p:cNvSpPr/>
          <p:nvPr>
            <p:custDataLst>
              <p:tags r:id="rId19"/>
            </p:custDataLst>
          </p:nvPr>
        </p:nvSpPr>
        <p:spPr>
          <a:xfrm>
            <a:off x="358337" y="3992901"/>
            <a:ext cx="5656610" cy="716675"/>
          </a:xfrm>
          <a:custGeom>
            <a:avLst/>
            <a:gdLst/>
            <a:ahLst/>
            <a:cxnLst/>
            <a:rect l="l" t="t" r="r" b="b"/>
            <a:pathLst>
              <a:path w="5656610" h="716675">
                <a:moveTo>
                  <a:pt x="34127" y="0"/>
                </a:moveTo>
                <a:lnTo>
                  <a:pt x="5588354" y="0"/>
                </a:lnTo>
                <a:cubicBezTo>
                  <a:pt x="5626051" y="0"/>
                  <a:pt x="5656610" y="30559"/>
                  <a:pt x="5656610" y="68256"/>
                </a:cubicBezTo>
                <a:lnTo>
                  <a:pt x="5656610" y="648419"/>
                </a:lnTo>
                <a:cubicBezTo>
                  <a:pt x="5656610" y="686115"/>
                  <a:pt x="5626051" y="716675"/>
                  <a:pt x="5588354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56" name="Shape 24"/>
          <p:cNvSpPr/>
          <p:nvPr>
            <p:custDataLst>
              <p:tags r:id="rId20"/>
            </p:custDataLst>
          </p:nvPr>
        </p:nvSpPr>
        <p:spPr>
          <a:xfrm>
            <a:off x="358337" y="3992901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58" name="Shape 25"/>
          <p:cNvSpPr/>
          <p:nvPr>
            <p:custDataLst>
              <p:tags r:id="rId21"/>
            </p:custDataLst>
          </p:nvPr>
        </p:nvSpPr>
        <p:spPr>
          <a:xfrm>
            <a:off x="477783" y="4095283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59" name="Text 26"/>
          <p:cNvSpPr/>
          <p:nvPr>
            <p:custDataLst>
              <p:tags r:id="rId22"/>
            </p:custDataLst>
          </p:nvPr>
        </p:nvSpPr>
        <p:spPr>
          <a:xfrm>
            <a:off x="447922" y="4095283"/>
            <a:ext cx="332742" cy="273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/>
          </a:p>
        </p:txBody>
      </p:sp>
      <p:sp>
        <p:nvSpPr>
          <p:cNvPr id="60" name="Text 27"/>
          <p:cNvSpPr/>
          <p:nvPr>
            <p:custDataLst>
              <p:tags r:id="rId23"/>
            </p:custDataLst>
          </p:nvPr>
        </p:nvSpPr>
        <p:spPr>
          <a:xfrm>
            <a:off x="853184" y="4129411"/>
            <a:ext cx="614293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策略约束</a:t>
            </a:r>
            <a:endParaRPr lang="en-US" sz="1600"/>
          </a:p>
        </p:txBody>
      </p:sp>
      <p:sp>
        <p:nvSpPr>
          <p:cNvPr id="61" name="Text 28"/>
          <p:cNvSpPr/>
          <p:nvPr>
            <p:custDataLst>
              <p:tags r:id="rId24"/>
            </p:custDataLst>
          </p:nvPr>
        </p:nvSpPr>
        <p:spPr>
          <a:xfrm>
            <a:off x="853184" y="4402430"/>
            <a:ext cx="5127636" cy="20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Counterfactual单独使用易将夸张误判为隐喻，Precision仅0.5357，误报率高</a:t>
            </a:r>
            <a:endParaRPr lang="en-US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11900" y="1268730"/>
            <a:ext cx="4267200" cy="3438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5805" y="888365"/>
            <a:ext cx="5125085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sz="134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瓶颈</a:t>
            </a:r>
            <a:endParaRPr lang="en-US" altLang="en-US" sz="1345" b="1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  <a:sym typeface="+mn-ea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479443" y="955094"/>
            <a:ext cx="170637" cy="170637"/>
          </a:xfrm>
          <a:custGeom>
            <a:avLst/>
            <a:gdLst/>
            <a:ahLst/>
            <a:cxnLst/>
            <a:rect l="l" t="t" r="r" b="b"/>
            <a:pathLst>
              <a:path w="170637" h="170637">
                <a:moveTo>
                  <a:pt x="85318" y="0"/>
                </a:moveTo>
                <a:cubicBezTo>
                  <a:pt x="90218" y="0"/>
                  <a:pt x="94717" y="2700"/>
                  <a:pt x="97050" y="6999"/>
                </a:cubicBezTo>
                <a:lnTo>
                  <a:pt x="169037" y="140309"/>
                </a:lnTo>
                <a:cubicBezTo>
                  <a:pt x="171270" y="144441"/>
                  <a:pt x="171170" y="149441"/>
                  <a:pt x="168770" y="153473"/>
                </a:cubicBezTo>
                <a:cubicBezTo>
                  <a:pt x="166371" y="157506"/>
                  <a:pt x="162005" y="159972"/>
                  <a:pt x="157306" y="159972"/>
                </a:cubicBezTo>
                <a:lnTo>
                  <a:pt x="13331" y="159972"/>
                </a:lnTo>
                <a:cubicBezTo>
                  <a:pt x="8632" y="159972"/>
                  <a:pt x="4299" y="157506"/>
                  <a:pt x="1866" y="153473"/>
                </a:cubicBezTo>
                <a:cubicBezTo>
                  <a:pt x="-567" y="149441"/>
                  <a:pt x="-633" y="144441"/>
                  <a:pt x="1600" y="140309"/>
                </a:cubicBezTo>
                <a:lnTo>
                  <a:pt x="73587" y="6999"/>
                </a:lnTo>
                <a:cubicBezTo>
                  <a:pt x="75920" y="2700"/>
                  <a:pt x="80419" y="0"/>
                  <a:pt x="85318" y="0"/>
                </a:cubicBezTo>
                <a:close/>
                <a:moveTo>
                  <a:pt x="85318" y="55990"/>
                </a:moveTo>
                <a:cubicBezTo>
                  <a:pt x="80886" y="55990"/>
                  <a:pt x="77320" y="59556"/>
                  <a:pt x="77320" y="63989"/>
                </a:cubicBezTo>
                <a:lnTo>
                  <a:pt x="77320" y="101316"/>
                </a:lnTo>
                <a:cubicBezTo>
                  <a:pt x="77320" y="105748"/>
                  <a:pt x="80886" y="109314"/>
                  <a:pt x="85318" y="109314"/>
                </a:cubicBezTo>
                <a:cubicBezTo>
                  <a:pt x="89751" y="109314"/>
                  <a:pt x="93317" y="105748"/>
                  <a:pt x="93317" y="101316"/>
                </a:cubicBezTo>
                <a:lnTo>
                  <a:pt x="93317" y="63989"/>
                </a:lnTo>
                <a:cubicBezTo>
                  <a:pt x="93317" y="59556"/>
                  <a:pt x="89751" y="55990"/>
                  <a:pt x="85318" y="55990"/>
                </a:cubicBezTo>
                <a:close/>
                <a:moveTo>
                  <a:pt x="94217" y="127978"/>
                </a:moveTo>
                <a:cubicBezTo>
                  <a:pt x="94419" y="124675"/>
                  <a:pt x="92772" y="121532"/>
                  <a:pt x="89941" y="119819"/>
                </a:cubicBezTo>
                <a:cubicBezTo>
                  <a:pt x="87109" y="118107"/>
                  <a:pt x="83561" y="118107"/>
                  <a:pt x="80730" y="119819"/>
                </a:cubicBezTo>
                <a:cubicBezTo>
                  <a:pt x="77898" y="121532"/>
                  <a:pt x="76251" y="124675"/>
                  <a:pt x="76453" y="127978"/>
                </a:cubicBezTo>
                <a:cubicBezTo>
                  <a:pt x="76251" y="131281"/>
                  <a:pt x="77898" y="134423"/>
                  <a:pt x="80730" y="136136"/>
                </a:cubicBezTo>
                <a:cubicBezTo>
                  <a:pt x="83561" y="137849"/>
                  <a:pt x="87109" y="137849"/>
                  <a:pt x="89941" y="136136"/>
                </a:cubicBezTo>
                <a:cubicBezTo>
                  <a:pt x="92772" y="134423"/>
                  <a:pt x="94419" y="131281"/>
                  <a:pt x="94217" y="12797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文本框 10"/>
          <p:cNvSpPr txBox="1"/>
          <p:nvPr/>
        </p:nvSpPr>
        <p:spPr>
          <a:xfrm>
            <a:off x="6311900" y="888365"/>
            <a:ext cx="5125085" cy="339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134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解决</a:t>
            </a:r>
            <a:r>
              <a:rPr lang="zh-CN" altLang="en-US" sz="134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方案</a:t>
            </a:r>
            <a:endParaRPr lang="zh-CN" altLang="en-US" sz="1345" b="1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60863"/>
            <a:ext cx="386638" cy="2749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625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5.1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31176" y="343679"/>
            <a:ext cx="2964228" cy="309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03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下一阶段方案与消融计划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43679" y="721725"/>
            <a:ext cx="687357" cy="34368"/>
          </a:xfrm>
          <a:custGeom>
            <a:avLst/>
            <a:gdLst/>
            <a:ahLst/>
            <a:cxnLst/>
            <a:rect l="l" t="t" r="r" b="b"/>
            <a:pathLst>
              <a:path w="687357" h="34368">
                <a:moveTo>
                  <a:pt x="0" y="0"/>
                </a:moveTo>
                <a:lnTo>
                  <a:pt x="687357" y="0"/>
                </a:lnTo>
                <a:lnTo>
                  <a:pt x="687357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365159" y="927932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0" y="24165"/>
                </a:moveTo>
                <a:cubicBezTo>
                  <a:pt x="0" y="19735"/>
                  <a:pt x="3591" y="16110"/>
                  <a:pt x="8055" y="16110"/>
                </a:cubicBezTo>
                <a:lnTo>
                  <a:pt x="24165" y="16110"/>
                </a:lnTo>
                <a:cubicBezTo>
                  <a:pt x="28629" y="16110"/>
                  <a:pt x="32220" y="19701"/>
                  <a:pt x="32220" y="24165"/>
                </a:cubicBezTo>
                <a:lnTo>
                  <a:pt x="32220" y="59070"/>
                </a:lnTo>
                <a:lnTo>
                  <a:pt x="40275" y="59070"/>
                </a:lnTo>
                <a:cubicBezTo>
                  <a:pt x="44739" y="59070"/>
                  <a:pt x="48330" y="62661"/>
                  <a:pt x="48330" y="67125"/>
                </a:cubicBezTo>
                <a:cubicBezTo>
                  <a:pt x="48330" y="71589"/>
                  <a:pt x="44739" y="75180"/>
                  <a:pt x="40275" y="75180"/>
                </a:cubicBezTo>
                <a:lnTo>
                  <a:pt x="8055" y="75180"/>
                </a:lnTo>
                <a:cubicBezTo>
                  <a:pt x="3591" y="75180"/>
                  <a:pt x="0" y="71589"/>
                  <a:pt x="0" y="67125"/>
                </a:cubicBezTo>
                <a:cubicBezTo>
                  <a:pt x="0" y="62661"/>
                  <a:pt x="3591" y="59070"/>
                  <a:pt x="8055" y="59070"/>
                </a:cubicBezTo>
                <a:lnTo>
                  <a:pt x="16110" y="59070"/>
                </a:lnTo>
                <a:lnTo>
                  <a:pt x="16110" y="32220"/>
                </a:lnTo>
                <a:lnTo>
                  <a:pt x="8055" y="32220"/>
                </a:lnTo>
                <a:cubicBezTo>
                  <a:pt x="3591" y="32220"/>
                  <a:pt x="0" y="28629"/>
                  <a:pt x="0" y="24165"/>
                </a:cubicBezTo>
                <a:close/>
                <a:moveTo>
                  <a:pt x="10203" y="101090"/>
                </a:moveTo>
                <a:cubicBezTo>
                  <a:pt x="14029" y="98203"/>
                  <a:pt x="18694" y="96660"/>
                  <a:pt x="23494" y="96660"/>
                </a:cubicBezTo>
                <a:lnTo>
                  <a:pt x="25138" y="96660"/>
                </a:lnTo>
                <a:cubicBezTo>
                  <a:pt x="36449" y="96660"/>
                  <a:pt x="45645" y="105856"/>
                  <a:pt x="45645" y="117166"/>
                </a:cubicBezTo>
                <a:cubicBezTo>
                  <a:pt x="45645" y="123744"/>
                  <a:pt x="42490" y="129886"/>
                  <a:pt x="37187" y="133746"/>
                </a:cubicBezTo>
                <a:lnTo>
                  <a:pt x="29132" y="139619"/>
                </a:lnTo>
                <a:lnTo>
                  <a:pt x="40275" y="139619"/>
                </a:lnTo>
                <a:cubicBezTo>
                  <a:pt x="44739" y="139619"/>
                  <a:pt x="48330" y="143211"/>
                  <a:pt x="48330" y="147674"/>
                </a:cubicBezTo>
                <a:cubicBezTo>
                  <a:pt x="48330" y="152138"/>
                  <a:pt x="44739" y="155729"/>
                  <a:pt x="40275" y="155729"/>
                </a:cubicBezTo>
                <a:lnTo>
                  <a:pt x="9834" y="155729"/>
                </a:lnTo>
                <a:cubicBezTo>
                  <a:pt x="4397" y="155729"/>
                  <a:pt x="0" y="151333"/>
                  <a:pt x="0" y="145896"/>
                </a:cubicBezTo>
                <a:cubicBezTo>
                  <a:pt x="0" y="142741"/>
                  <a:pt x="1510" y="139787"/>
                  <a:pt x="4061" y="137941"/>
                </a:cubicBezTo>
                <a:lnTo>
                  <a:pt x="27723" y="120724"/>
                </a:lnTo>
                <a:cubicBezTo>
                  <a:pt x="28864" y="119885"/>
                  <a:pt x="29535" y="118576"/>
                  <a:pt x="29535" y="117166"/>
                </a:cubicBezTo>
                <a:cubicBezTo>
                  <a:pt x="29535" y="114750"/>
                  <a:pt x="27555" y="112770"/>
                  <a:pt x="25138" y="112770"/>
                </a:cubicBezTo>
                <a:lnTo>
                  <a:pt x="23494" y="112770"/>
                </a:lnTo>
                <a:cubicBezTo>
                  <a:pt x="22185" y="112770"/>
                  <a:pt x="20909" y="113206"/>
                  <a:pt x="19869" y="113978"/>
                </a:cubicBezTo>
                <a:lnTo>
                  <a:pt x="12888" y="119214"/>
                </a:lnTo>
                <a:cubicBezTo>
                  <a:pt x="9330" y="121899"/>
                  <a:pt x="4296" y="121160"/>
                  <a:pt x="1611" y="117603"/>
                </a:cubicBezTo>
                <a:cubicBezTo>
                  <a:pt x="-1074" y="114045"/>
                  <a:pt x="-336" y="109011"/>
                  <a:pt x="3222" y="106326"/>
                </a:cubicBezTo>
                <a:lnTo>
                  <a:pt x="10203" y="101090"/>
                </a:lnTo>
                <a:close/>
                <a:moveTo>
                  <a:pt x="75180" y="21480"/>
                </a:moveTo>
                <a:lnTo>
                  <a:pt x="161099" y="21480"/>
                </a:lnTo>
                <a:cubicBezTo>
                  <a:pt x="167040" y="21480"/>
                  <a:pt x="171839" y="26279"/>
                  <a:pt x="171839" y="32220"/>
                </a:cubicBezTo>
                <a:cubicBezTo>
                  <a:pt x="171839" y="38160"/>
                  <a:pt x="167040" y="42960"/>
                  <a:pt x="161099" y="42960"/>
                </a:cubicBezTo>
                <a:lnTo>
                  <a:pt x="75180" y="42960"/>
                </a:lnTo>
                <a:cubicBezTo>
                  <a:pt x="69239" y="42960"/>
                  <a:pt x="64440" y="38160"/>
                  <a:pt x="64440" y="32220"/>
                </a:cubicBezTo>
                <a:cubicBezTo>
                  <a:pt x="64440" y="26279"/>
                  <a:pt x="69239" y="21480"/>
                  <a:pt x="75180" y="21480"/>
                </a:cubicBezTo>
                <a:close/>
                <a:moveTo>
                  <a:pt x="75180" y="75180"/>
                </a:moveTo>
                <a:lnTo>
                  <a:pt x="161099" y="75180"/>
                </a:lnTo>
                <a:cubicBezTo>
                  <a:pt x="167040" y="75180"/>
                  <a:pt x="171839" y="79979"/>
                  <a:pt x="171839" y="85920"/>
                </a:cubicBezTo>
                <a:cubicBezTo>
                  <a:pt x="171839" y="91860"/>
                  <a:pt x="167040" y="96660"/>
                  <a:pt x="161099" y="96660"/>
                </a:cubicBezTo>
                <a:lnTo>
                  <a:pt x="75180" y="96660"/>
                </a:lnTo>
                <a:cubicBezTo>
                  <a:pt x="69239" y="96660"/>
                  <a:pt x="64440" y="91860"/>
                  <a:pt x="64440" y="85920"/>
                </a:cubicBezTo>
                <a:cubicBezTo>
                  <a:pt x="64440" y="79979"/>
                  <a:pt x="69239" y="75180"/>
                  <a:pt x="75180" y="75180"/>
                </a:cubicBezTo>
                <a:close/>
                <a:moveTo>
                  <a:pt x="75180" y="128879"/>
                </a:moveTo>
                <a:lnTo>
                  <a:pt x="161099" y="128879"/>
                </a:lnTo>
                <a:cubicBezTo>
                  <a:pt x="167040" y="128879"/>
                  <a:pt x="171839" y="133679"/>
                  <a:pt x="171839" y="139619"/>
                </a:cubicBezTo>
                <a:cubicBezTo>
                  <a:pt x="171839" y="145560"/>
                  <a:pt x="167040" y="150359"/>
                  <a:pt x="161099" y="150359"/>
                </a:cubicBezTo>
                <a:lnTo>
                  <a:pt x="75180" y="150359"/>
                </a:lnTo>
                <a:cubicBezTo>
                  <a:pt x="69239" y="150359"/>
                  <a:pt x="64440" y="145560"/>
                  <a:pt x="64440" y="139619"/>
                </a:cubicBezTo>
                <a:cubicBezTo>
                  <a:pt x="64440" y="133679"/>
                  <a:pt x="69239" y="128879"/>
                  <a:pt x="75180" y="12887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58478" y="893564"/>
            <a:ext cx="5533226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5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优先级任务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360863" y="1237243"/>
            <a:ext cx="5644922" cy="824829"/>
          </a:xfrm>
          <a:custGeom>
            <a:avLst/>
            <a:gdLst/>
            <a:ahLst/>
            <a:cxnLst/>
            <a:rect l="l" t="t" r="r" b="b"/>
            <a:pathLst>
              <a:path w="5644922" h="824829">
                <a:moveTo>
                  <a:pt x="34368" y="0"/>
                </a:moveTo>
                <a:lnTo>
                  <a:pt x="5576189" y="0"/>
                </a:lnTo>
                <a:cubicBezTo>
                  <a:pt x="5614149" y="0"/>
                  <a:pt x="5644922" y="30773"/>
                  <a:pt x="5644922" y="68733"/>
                </a:cubicBezTo>
                <a:lnTo>
                  <a:pt x="5644922" y="756096"/>
                </a:lnTo>
                <a:cubicBezTo>
                  <a:pt x="5644922" y="794056"/>
                  <a:pt x="5614149" y="824829"/>
                  <a:pt x="5576189" y="824829"/>
                </a:cubicBez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8" name="Shape 6"/>
          <p:cNvSpPr/>
          <p:nvPr/>
        </p:nvSpPr>
        <p:spPr>
          <a:xfrm>
            <a:off x="360863" y="1237243"/>
            <a:ext cx="34368" cy="824829"/>
          </a:xfrm>
          <a:custGeom>
            <a:avLst/>
            <a:gdLst/>
            <a:ahLst/>
            <a:cxnLst/>
            <a:rect l="l" t="t" r="r" b="b"/>
            <a:pathLst>
              <a:path w="34368" h="824829">
                <a:moveTo>
                  <a:pt x="34368" y="0"/>
                </a:moveTo>
                <a:lnTo>
                  <a:pt x="34368" y="0"/>
                </a:lnTo>
                <a:lnTo>
                  <a:pt x="34368" y="824829"/>
                </a:ln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Shape 7"/>
          <p:cNvSpPr/>
          <p:nvPr/>
        </p:nvSpPr>
        <p:spPr>
          <a:xfrm>
            <a:off x="515518" y="1374715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137471" y="0"/>
                </a:moveTo>
                <a:lnTo>
                  <a:pt x="137471" y="0"/>
                </a:lnTo>
                <a:cubicBezTo>
                  <a:pt x="213344" y="0"/>
                  <a:pt x="274943" y="61599"/>
                  <a:pt x="274943" y="137471"/>
                </a:cubicBezTo>
                <a:lnTo>
                  <a:pt x="274943" y="137471"/>
                </a:lnTo>
                <a:cubicBezTo>
                  <a:pt x="274943" y="213344"/>
                  <a:pt x="213344" y="274943"/>
                  <a:pt x="137471" y="274943"/>
                </a:cubicBezTo>
                <a:lnTo>
                  <a:pt x="137471" y="274943"/>
                </a:lnTo>
                <a:cubicBezTo>
                  <a:pt x="61599" y="274943"/>
                  <a:pt x="0" y="213344"/>
                  <a:pt x="0" y="137471"/>
                </a:cubicBezTo>
                <a:lnTo>
                  <a:pt x="0" y="137471"/>
                </a:lnTo>
                <a:cubicBezTo>
                  <a:pt x="0" y="61599"/>
                  <a:pt x="61599" y="0"/>
                  <a:pt x="137471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481150" y="1374715"/>
            <a:ext cx="343679" cy="2749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93564" y="1409082"/>
            <a:ext cx="1168507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验证显式特征贡献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93564" y="1718393"/>
            <a:ext cx="504348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</a:t>
            </a:r>
            <a:r>
              <a:rPr lang="en-US" sz="108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Emotion Lexicon</a:t>
            </a: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与</a:t>
            </a:r>
            <a:r>
              <a:rPr lang="en-US" sz="108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ConceptNet Relation</a:t>
            </a: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对整体大盘的F1贡献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60863" y="2165175"/>
            <a:ext cx="5644922" cy="824829"/>
          </a:xfrm>
          <a:custGeom>
            <a:avLst/>
            <a:gdLst/>
            <a:ahLst/>
            <a:cxnLst/>
            <a:rect l="l" t="t" r="r" b="b"/>
            <a:pathLst>
              <a:path w="5644922" h="824829">
                <a:moveTo>
                  <a:pt x="34368" y="0"/>
                </a:moveTo>
                <a:lnTo>
                  <a:pt x="5576189" y="0"/>
                </a:lnTo>
                <a:cubicBezTo>
                  <a:pt x="5614149" y="0"/>
                  <a:pt x="5644922" y="30773"/>
                  <a:pt x="5644922" y="68733"/>
                </a:cubicBezTo>
                <a:lnTo>
                  <a:pt x="5644922" y="756096"/>
                </a:lnTo>
                <a:cubicBezTo>
                  <a:pt x="5644922" y="794056"/>
                  <a:pt x="5614149" y="824829"/>
                  <a:pt x="5576189" y="824829"/>
                </a:cubicBez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14" name="Shape 12"/>
          <p:cNvSpPr/>
          <p:nvPr/>
        </p:nvSpPr>
        <p:spPr>
          <a:xfrm>
            <a:off x="360863" y="2165175"/>
            <a:ext cx="34368" cy="824829"/>
          </a:xfrm>
          <a:custGeom>
            <a:avLst/>
            <a:gdLst/>
            <a:ahLst/>
            <a:cxnLst/>
            <a:rect l="l" t="t" r="r" b="b"/>
            <a:pathLst>
              <a:path w="34368" h="824829">
                <a:moveTo>
                  <a:pt x="34368" y="0"/>
                </a:moveTo>
                <a:lnTo>
                  <a:pt x="34368" y="0"/>
                </a:lnTo>
                <a:lnTo>
                  <a:pt x="34368" y="824829"/>
                </a:ln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515518" y="2302647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137471" y="0"/>
                </a:moveTo>
                <a:lnTo>
                  <a:pt x="137471" y="0"/>
                </a:lnTo>
                <a:cubicBezTo>
                  <a:pt x="213344" y="0"/>
                  <a:pt x="274943" y="61599"/>
                  <a:pt x="274943" y="137471"/>
                </a:cubicBezTo>
                <a:lnTo>
                  <a:pt x="274943" y="137471"/>
                </a:lnTo>
                <a:cubicBezTo>
                  <a:pt x="274943" y="213344"/>
                  <a:pt x="213344" y="274943"/>
                  <a:pt x="137471" y="274943"/>
                </a:cubicBezTo>
                <a:lnTo>
                  <a:pt x="137471" y="274943"/>
                </a:lnTo>
                <a:cubicBezTo>
                  <a:pt x="61599" y="274943"/>
                  <a:pt x="0" y="213344"/>
                  <a:pt x="0" y="137471"/>
                </a:cubicBezTo>
                <a:lnTo>
                  <a:pt x="0" y="137471"/>
                </a:lnTo>
                <a:cubicBezTo>
                  <a:pt x="0" y="61599"/>
                  <a:pt x="61599" y="0"/>
                  <a:pt x="137471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481150" y="2302647"/>
            <a:ext cx="343679" cy="2749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893564" y="2337015"/>
            <a:ext cx="1168507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验证特征注入方式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93564" y="2646326"/>
            <a:ext cx="504348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消融实验：</a:t>
            </a:r>
            <a:r>
              <a:rPr lang="en-US" sz="108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仅提示词</a:t>
            </a: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vs </a:t>
            </a:r>
            <a:r>
              <a:rPr lang="en-US" sz="1080" b="1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向量拼接融合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360863" y="3093108"/>
            <a:ext cx="5644922" cy="824829"/>
          </a:xfrm>
          <a:custGeom>
            <a:avLst/>
            <a:gdLst/>
            <a:ahLst/>
            <a:cxnLst/>
            <a:rect l="l" t="t" r="r" b="b"/>
            <a:pathLst>
              <a:path w="5644922" h="824829">
                <a:moveTo>
                  <a:pt x="34368" y="0"/>
                </a:moveTo>
                <a:lnTo>
                  <a:pt x="5576189" y="0"/>
                </a:lnTo>
                <a:cubicBezTo>
                  <a:pt x="5614149" y="0"/>
                  <a:pt x="5644922" y="30773"/>
                  <a:pt x="5644922" y="68733"/>
                </a:cubicBezTo>
                <a:lnTo>
                  <a:pt x="5644922" y="756096"/>
                </a:lnTo>
                <a:cubicBezTo>
                  <a:pt x="5644922" y="794056"/>
                  <a:pt x="5614149" y="824829"/>
                  <a:pt x="5576189" y="824829"/>
                </a:cubicBez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0" scaled="1"/>
            <a:tileRect/>
          </a:gradFill>
        </p:spPr>
      </p:sp>
      <p:sp>
        <p:nvSpPr>
          <p:cNvPr id="20" name="Shape 18"/>
          <p:cNvSpPr/>
          <p:nvPr/>
        </p:nvSpPr>
        <p:spPr>
          <a:xfrm>
            <a:off x="360863" y="3093108"/>
            <a:ext cx="34368" cy="824829"/>
          </a:xfrm>
          <a:custGeom>
            <a:avLst/>
            <a:gdLst/>
            <a:ahLst/>
            <a:cxnLst/>
            <a:rect l="l" t="t" r="r" b="b"/>
            <a:pathLst>
              <a:path w="34368" h="824829">
                <a:moveTo>
                  <a:pt x="34368" y="0"/>
                </a:moveTo>
                <a:lnTo>
                  <a:pt x="34368" y="0"/>
                </a:lnTo>
                <a:lnTo>
                  <a:pt x="34368" y="824829"/>
                </a:lnTo>
                <a:lnTo>
                  <a:pt x="34368" y="824829"/>
                </a:lnTo>
                <a:cubicBezTo>
                  <a:pt x="15387" y="824829"/>
                  <a:pt x="0" y="809442"/>
                  <a:pt x="0" y="79046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515518" y="3230579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137471" y="0"/>
                </a:moveTo>
                <a:lnTo>
                  <a:pt x="137471" y="0"/>
                </a:lnTo>
                <a:cubicBezTo>
                  <a:pt x="213344" y="0"/>
                  <a:pt x="274943" y="61599"/>
                  <a:pt x="274943" y="137471"/>
                </a:cubicBezTo>
                <a:lnTo>
                  <a:pt x="274943" y="137471"/>
                </a:lnTo>
                <a:cubicBezTo>
                  <a:pt x="274943" y="213344"/>
                  <a:pt x="213344" y="274943"/>
                  <a:pt x="137471" y="274943"/>
                </a:cubicBezTo>
                <a:lnTo>
                  <a:pt x="137471" y="274943"/>
                </a:lnTo>
                <a:cubicBezTo>
                  <a:pt x="61599" y="274943"/>
                  <a:pt x="0" y="213344"/>
                  <a:pt x="0" y="137471"/>
                </a:cubicBezTo>
                <a:lnTo>
                  <a:pt x="0" y="137471"/>
                </a:lnTo>
                <a:cubicBezTo>
                  <a:pt x="0" y="61599"/>
                  <a:pt x="61599" y="0"/>
                  <a:pt x="137471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481150" y="3230579"/>
            <a:ext cx="343679" cy="2749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93564" y="3264947"/>
            <a:ext cx="1305979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级联校验自动化调优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93564" y="3574258"/>
            <a:ext cx="5043484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重试阈值的自动化调优与最优平衡点探索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360863" y="4055408"/>
            <a:ext cx="5644922" cy="1701209"/>
          </a:xfrm>
          <a:custGeom>
            <a:avLst/>
            <a:gdLst/>
            <a:ahLst/>
            <a:cxnLst/>
            <a:rect l="l" t="t" r="r" b="b"/>
            <a:pathLst>
              <a:path w="5644922" h="1701209">
                <a:moveTo>
                  <a:pt x="34364" y="0"/>
                </a:moveTo>
                <a:lnTo>
                  <a:pt x="5610557" y="0"/>
                </a:lnTo>
                <a:cubicBezTo>
                  <a:pt x="5629536" y="0"/>
                  <a:pt x="5644922" y="15385"/>
                  <a:pt x="5644922" y="34364"/>
                </a:cubicBezTo>
                <a:lnTo>
                  <a:pt x="5644922" y="1666845"/>
                </a:lnTo>
                <a:cubicBezTo>
                  <a:pt x="5644922" y="1685824"/>
                  <a:pt x="5629536" y="1701209"/>
                  <a:pt x="5610557" y="1701209"/>
                </a:cubicBezTo>
                <a:lnTo>
                  <a:pt x="34364" y="1701209"/>
                </a:lnTo>
                <a:cubicBezTo>
                  <a:pt x="15385" y="1701209"/>
                  <a:pt x="0" y="1685824"/>
                  <a:pt x="0" y="1666845"/>
                </a:cubicBezTo>
                <a:lnTo>
                  <a:pt x="0" y="34364"/>
                </a:lnTo>
                <a:cubicBezTo>
                  <a:pt x="0" y="15385"/>
                  <a:pt x="15385" y="0"/>
                  <a:pt x="3436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60863" y="4055408"/>
            <a:ext cx="34368" cy="1701209"/>
          </a:xfrm>
          <a:custGeom>
            <a:avLst/>
            <a:gdLst/>
            <a:ahLst/>
            <a:cxnLst/>
            <a:rect l="l" t="t" r="r" b="b"/>
            <a:pathLst>
              <a:path w="34368" h="1701209">
                <a:moveTo>
                  <a:pt x="34368" y="0"/>
                </a:moveTo>
                <a:lnTo>
                  <a:pt x="34368" y="0"/>
                </a:lnTo>
                <a:lnTo>
                  <a:pt x="34368" y="1701209"/>
                </a:lnTo>
                <a:lnTo>
                  <a:pt x="34368" y="1701209"/>
                </a:lnTo>
                <a:cubicBezTo>
                  <a:pt x="15387" y="1701209"/>
                  <a:pt x="0" y="1685822"/>
                  <a:pt x="0" y="166684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Shape 25"/>
          <p:cNvSpPr/>
          <p:nvPr/>
        </p:nvSpPr>
        <p:spPr>
          <a:xfrm>
            <a:off x="546664" y="4235839"/>
            <a:ext cx="135323" cy="154655"/>
          </a:xfrm>
          <a:custGeom>
            <a:avLst/>
            <a:gdLst/>
            <a:ahLst/>
            <a:cxnLst/>
            <a:rect l="l" t="t" r="r" b="b"/>
            <a:pathLst>
              <a:path w="135323" h="154655">
                <a:moveTo>
                  <a:pt x="86994" y="0"/>
                </a:moveTo>
                <a:lnTo>
                  <a:pt x="38664" y="0"/>
                </a:lnTo>
                <a:cubicBezTo>
                  <a:pt x="33317" y="0"/>
                  <a:pt x="28998" y="4319"/>
                  <a:pt x="28998" y="9666"/>
                </a:cubicBezTo>
                <a:cubicBezTo>
                  <a:pt x="28998" y="15012"/>
                  <a:pt x="33317" y="19332"/>
                  <a:pt x="38664" y="19332"/>
                </a:cubicBezTo>
                <a:lnTo>
                  <a:pt x="38664" y="65094"/>
                </a:lnTo>
                <a:lnTo>
                  <a:pt x="2265" y="128769"/>
                </a:lnTo>
                <a:cubicBezTo>
                  <a:pt x="785" y="131397"/>
                  <a:pt x="0" y="134327"/>
                  <a:pt x="0" y="137347"/>
                </a:cubicBezTo>
                <a:cubicBezTo>
                  <a:pt x="0" y="146923"/>
                  <a:pt x="7733" y="154655"/>
                  <a:pt x="17308" y="154655"/>
                </a:cubicBezTo>
                <a:lnTo>
                  <a:pt x="118015" y="154655"/>
                </a:lnTo>
                <a:cubicBezTo>
                  <a:pt x="127560" y="154655"/>
                  <a:pt x="135323" y="146923"/>
                  <a:pt x="135323" y="137347"/>
                </a:cubicBezTo>
                <a:cubicBezTo>
                  <a:pt x="135323" y="134327"/>
                  <a:pt x="134538" y="131366"/>
                  <a:pt x="133058" y="128769"/>
                </a:cubicBezTo>
                <a:lnTo>
                  <a:pt x="96660" y="65094"/>
                </a:lnTo>
                <a:lnTo>
                  <a:pt x="96660" y="19332"/>
                </a:lnTo>
                <a:cubicBezTo>
                  <a:pt x="102006" y="19332"/>
                  <a:pt x="106326" y="15012"/>
                  <a:pt x="106326" y="9666"/>
                </a:cubicBezTo>
                <a:cubicBezTo>
                  <a:pt x="106326" y="4319"/>
                  <a:pt x="102006" y="0"/>
                  <a:pt x="96660" y="0"/>
                </a:cubicBezTo>
                <a:lnTo>
                  <a:pt x="86994" y="0"/>
                </a:lnTo>
                <a:close/>
                <a:moveTo>
                  <a:pt x="57996" y="65094"/>
                </a:moveTo>
                <a:lnTo>
                  <a:pt x="57996" y="19332"/>
                </a:lnTo>
                <a:lnTo>
                  <a:pt x="77328" y="19332"/>
                </a:lnTo>
                <a:lnTo>
                  <a:pt x="77328" y="65094"/>
                </a:lnTo>
                <a:cubicBezTo>
                  <a:pt x="77328" y="68447"/>
                  <a:pt x="78204" y="71770"/>
                  <a:pt x="79865" y="74700"/>
                </a:cubicBezTo>
                <a:lnTo>
                  <a:pt x="92431" y="96660"/>
                </a:lnTo>
                <a:lnTo>
                  <a:pt x="42893" y="96660"/>
                </a:lnTo>
                <a:lnTo>
                  <a:pt x="55458" y="74700"/>
                </a:lnTo>
                <a:cubicBezTo>
                  <a:pt x="57120" y="71770"/>
                  <a:pt x="57996" y="68477"/>
                  <a:pt x="57996" y="6509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713133" y="4192879"/>
            <a:ext cx="5232507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2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消融实验设计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515518" y="4536558"/>
            <a:ext cx="5421531" cy="223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08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从</a:t>
            </a: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w/o特征</a:t>
            </a:r>
            <a:r>
              <a:rPr lang="en-US" sz="108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到</a:t>
            </a: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完整架构</a:t>
            </a:r>
            <a:r>
              <a:rPr lang="en-US" sz="108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，逐层观察指标变化，量化每级贡献度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515518" y="4863053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31" name="Text 29"/>
          <p:cNvSpPr/>
          <p:nvPr/>
        </p:nvSpPr>
        <p:spPr>
          <a:xfrm>
            <a:off x="646223" y="5052076"/>
            <a:ext cx="292127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 b="1">
                <a:solidFill>
                  <a:srgbClr val="4A556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w/o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485446" y="5447307"/>
            <a:ext cx="61003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无特征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1505527" y="5155180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168684" y="93505"/>
                </a:moveTo>
                <a:cubicBezTo>
                  <a:pt x="172880" y="89309"/>
                  <a:pt x="172880" y="82496"/>
                  <a:pt x="168684" y="78301"/>
                </a:cubicBezTo>
                <a:lnTo>
                  <a:pt x="114985" y="24601"/>
                </a:lnTo>
                <a:cubicBezTo>
                  <a:pt x="110789" y="20406"/>
                  <a:pt x="103976" y="20406"/>
                  <a:pt x="99781" y="24601"/>
                </a:cubicBezTo>
                <a:cubicBezTo>
                  <a:pt x="95586" y="28797"/>
                  <a:pt x="95586" y="35610"/>
                  <a:pt x="99781" y="39805"/>
                </a:cubicBezTo>
                <a:lnTo>
                  <a:pt x="135156" y="75180"/>
                </a:lnTo>
                <a:lnTo>
                  <a:pt x="10740" y="75180"/>
                </a:lnTo>
                <a:cubicBezTo>
                  <a:pt x="4799" y="75180"/>
                  <a:pt x="0" y="79979"/>
                  <a:pt x="0" y="85920"/>
                </a:cubicBezTo>
                <a:cubicBezTo>
                  <a:pt x="0" y="91860"/>
                  <a:pt x="4799" y="96660"/>
                  <a:pt x="10740" y="96660"/>
                </a:cubicBezTo>
                <a:lnTo>
                  <a:pt x="135156" y="96660"/>
                </a:lnTo>
                <a:lnTo>
                  <a:pt x="99781" y="132034"/>
                </a:lnTo>
                <a:cubicBezTo>
                  <a:pt x="95586" y="136230"/>
                  <a:pt x="95586" y="143043"/>
                  <a:pt x="99781" y="147238"/>
                </a:cubicBezTo>
                <a:cubicBezTo>
                  <a:pt x="103976" y="151433"/>
                  <a:pt x="110789" y="151433"/>
                  <a:pt x="114985" y="147238"/>
                </a:cubicBezTo>
                <a:lnTo>
                  <a:pt x="168684" y="9353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Shape 32"/>
          <p:cNvSpPr/>
          <p:nvPr/>
        </p:nvSpPr>
        <p:spPr>
          <a:xfrm>
            <a:off x="2117383" y="4863053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solidFill>
            <a:srgbClr val="BEDBFF"/>
          </a:solidFill>
        </p:spPr>
      </p:sp>
      <p:sp>
        <p:nvSpPr>
          <p:cNvPr id="35" name="Text 33"/>
          <p:cNvSpPr/>
          <p:nvPr/>
        </p:nvSpPr>
        <p:spPr>
          <a:xfrm>
            <a:off x="2285893" y="5052076"/>
            <a:ext cx="214799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 b="1">
                <a:solidFill>
                  <a:srgbClr val="1447E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+E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2087311" y="5447307"/>
            <a:ext cx="61003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情感特征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3107392" y="5155180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168684" y="93505"/>
                </a:moveTo>
                <a:cubicBezTo>
                  <a:pt x="172880" y="89309"/>
                  <a:pt x="172880" y="82496"/>
                  <a:pt x="168684" y="78301"/>
                </a:cubicBezTo>
                <a:lnTo>
                  <a:pt x="114985" y="24601"/>
                </a:lnTo>
                <a:cubicBezTo>
                  <a:pt x="110789" y="20406"/>
                  <a:pt x="103976" y="20406"/>
                  <a:pt x="99781" y="24601"/>
                </a:cubicBezTo>
                <a:cubicBezTo>
                  <a:pt x="95586" y="28797"/>
                  <a:pt x="95586" y="35610"/>
                  <a:pt x="99781" y="39805"/>
                </a:cubicBezTo>
                <a:lnTo>
                  <a:pt x="135156" y="75180"/>
                </a:lnTo>
                <a:lnTo>
                  <a:pt x="10740" y="75180"/>
                </a:lnTo>
                <a:cubicBezTo>
                  <a:pt x="4799" y="75180"/>
                  <a:pt x="0" y="79979"/>
                  <a:pt x="0" y="85920"/>
                </a:cubicBezTo>
                <a:cubicBezTo>
                  <a:pt x="0" y="91860"/>
                  <a:pt x="4799" y="96660"/>
                  <a:pt x="10740" y="96660"/>
                </a:cubicBezTo>
                <a:lnTo>
                  <a:pt x="135156" y="96660"/>
                </a:lnTo>
                <a:lnTo>
                  <a:pt x="99781" y="132034"/>
                </a:lnTo>
                <a:cubicBezTo>
                  <a:pt x="95586" y="136230"/>
                  <a:pt x="95586" y="143043"/>
                  <a:pt x="99781" y="147238"/>
                </a:cubicBezTo>
                <a:cubicBezTo>
                  <a:pt x="103976" y="151433"/>
                  <a:pt x="110789" y="151433"/>
                  <a:pt x="114985" y="147238"/>
                </a:cubicBezTo>
                <a:lnTo>
                  <a:pt x="168684" y="9353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Shape 36"/>
          <p:cNvSpPr/>
          <p:nvPr/>
        </p:nvSpPr>
        <p:spPr>
          <a:xfrm>
            <a:off x="3719355" y="4863053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solidFill>
            <a:srgbClr val="8EC5FF"/>
          </a:solidFill>
        </p:spPr>
      </p:sp>
      <p:sp>
        <p:nvSpPr>
          <p:cNvPr id="39" name="Text 37"/>
          <p:cNvSpPr/>
          <p:nvPr/>
        </p:nvSpPr>
        <p:spPr>
          <a:xfrm>
            <a:off x="3885717" y="5052076"/>
            <a:ext cx="214799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 b="1">
                <a:solidFill>
                  <a:srgbClr val="193CB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+C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3689283" y="5447307"/>
            <a:ext cx="61003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概念特征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4709257" y="5155180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168684" y="93505"/>
                </a:moveTo>
                <a:cubicBezTo>
                  <a:pt x="172880" y="89309"/>
                  <a:pt x="172880" y="82496"/>
                  <a:pt x="168684" y="78301"/>
                </a:cubicBezTo>
                <a:lnTo>
                  <a:pt x="114985" y="24601"/>
                </a:lnTo>
                <a:cubicBezTo>
                  <a:pt x="110789" y="20406"/>
                  <a:pt x="103976" y="20406"/>
                  <a:pt x="99781" y="24601"/>
                </a:cubicBezTo>
                <a:cubicBezTo>
                  <a:pt x="95586" y="28797"/>
                  <a:pt x="95586" y="35610"/>
                  <a:pt x="99781" y="39805"/>
                </a:cubicBezTo>
                <a:lnTo>
                  <a:pt x="135156" y="75180"/>
                </a:lnTo>
                <a:lnTo>
                  <a:pt x="10740" y="75180"/>
                </a:lnTo>
                <a:cubicBezTo>
                  <a:pt x="4799" y="75180"/>
                  <a:pt x="0" y="79979"/>
                  <a:pt x="0" y="85920"/>
                </a:cubicBezTo>
                <a:cubicBezTo>
                  <a:pt x="0" y="91860"/>
                  <a:pt x="4799" y="96660"/>
                  <a:pt x="10740" y="96660"/>
                </a:cubicBezTo>
                <a:lnTo>
                  <a:pt x="135156" y="96660"/>
                </a:lnTo>
                <a:lnTo>
                  <a:pt x="99781" y="132034"/>
                </a:lnTo>
                <a:cubicBezTo>
                  <a:pt x="95586" y="136230"/>
                  <a:pt x="95586" y="143043"/>
                  <a:pt x="99781" y="147238"/>
                </a:cubicBezTo>
                <a:cubicBezTo>
                  <a:pt x="103976" y="151433"/>
                  <a:pt x="110789" y="151433"/>
                  <a:pt x="114985" y="147238"/>
                </a:cubicBezTo>
                <a:lnTo>
                  <a:pt x="168684" y="9353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2" name="Shape 40"/>
          <p:cNvSpPr/>
          <p:nvPr/>
        </p:nvSpPr>
        <p:spPr>
          <a:xfrm>
            <a:off x="5321220" y="4863053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274943" y="0"/>
                </a:moveTo>
                <a:lnTo>
                  <a:pt x="274943" y="0"/>
                </a:lnTo>
                <a:cubicBezTo>
                  <a:pt x="426688" y="0"/>
                  <a:pt x="549886" y="123198"/>
                  <a:pt x="549886" y="274943"/>
                </a:cubicBezTo>
                <a:lnTo>
                  <a:pt x="549886" y="274943"/>
                </a:lnTo>
                <a:cubicBezTo>
                  <a:pt x="549886" y="426688"/>
                  <a:pt x="426688" y="549886"/>
                  <a:pt x="274943" y="549886"/>
                </a:cubicBezTo>
                <a:lnTo>
                  <a:pt x="274943" y="549886"/>
                </a:lnTo>
                <a:cubicBezTo>
                  <a:pt x="123198" y="549886"/>
                  <a:pt x="0" y="426688"/>
                  <a:pt x="0" y="274943"/>
                </a:cubicBezTo>
                <a:lnTo>
                  <a:pt x="0" y="274943"/>
                </a:lnTo>
                <a:cubicBezTo>
                  <a:pt x="0" y="123198"/>
                  <a:pt x="123198" y="0"/>
                  <a:pt x="27494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3" name="Text 41"/>
          <p:cNvSpPr/>
          <p:nvPr/>
        </p:nvSpPr>
        <p:spPr>
          <a:xfrm>
            <a:off x="5443548" y="5052076"/>
            <a:ext cx="309311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Full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5291148" y="5447307"/>
            <a:ext cx="61003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完整架构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6212636" y="927932"/>
            <a:ext cx="150359" cy="171839"/>
          </a:xfrm>
          <a:custGeom>
            <a:avLst/>
            <a:gdLst/>
            <a:ahLst/>
            <a:cxnLst/>
            <a:rect l="l" t="t" r="r" b="b"/>
            <a:pathLst>
              <a:path w="150359" h="171839">
                <a:moveTo>
                  <a:pt x="85920" y="53700"/>
                </a:moveTo>
                <a:lnTo>
                  <a:pt x="85920" y="85920"/>
                </a:lnTo>
                <a:lnTo>
                  <a:pt x="128879" y="85920"/>
                </a:lnTo>
                <a:lnTo>
                  <a:pt x="128879" y="53700"/>
                </a:lnTo>
                <a:lnTo>
                  <a:pt x="85920" y="53700"/>
                </a:lnTo>
                <a:close/>
                <a:moveTo>
                  <a:pt x="64440" y="53700"/>
                </a:moveTo>
                <a:lnTo>
                  <a:pt x="21480" y="53700"/>
                </a:lnTo>
                <a:lnTo>
                  <a:pt x="21480" y="85920"/>
                </a:lnTo>
                <a:lnTo>
                  <a:pt x="64440" y="85920"/>
                </a:lnTo>
                <a:lnTo>
                  <a:pt x="64440" y="53700"/>
                </a:lnTo>
                <a:close/>
                <a:moveTo>
                  <a:pt x="0" y="107400"/>
                </a:moveTo>
                <a:lnTo>
                  <a:pt x="0" y="32220"/>
                </a:lnTo>
                <a:cubicBezTo>
                  <a:pt x="0" y="20372"/>
                  <a:pt x="9632" y="10740"/>
                  <a:pt x="21480" y="10740"/>
                </a:cubicBezTo>
                <a:lnTo>
                  <a:pt x="128879" y="10740"/>
                </a:lnTo>
                <a:cubicBezTo>
                  <a:pt x="140727" y="10740"/>
                  <a:pt x="150359" y="20372"/>
                  <a:pt x="150359" y="32220"/>
                </a:cubicBezTo>
                <a:lnTo>
                  <a:pt x="150359" y="139619"/>
                </a:lnTo>
                <a:cubicBezTo>
                  <a:pt x="150359" y="151467"/>
                  <a:pt x="140727" y="161099"/>
                  <a:pt x="128879" y="161099"/>
                </a:cubicBezTo>
                <a:lnTo>
                  <a:pt x="21480" y="161099"/>
                </a:lnTo>
                <a:cubicBezTo>
                  <a:pt x="9632" y="161099"/>
                  <a:pt x="0" y="151467"/>
                  <a:pt x="0" y="139619"/>
                </a:cubicBezTo>
                <a:lnTo>
                  <a:pt x="0" y="107400"/>
                </a:lnTo>
                <a:close/>
                <a:moveTo>
                  <a:pt x="128879" y="107400"/>
                </a:moveTo>
                <a:lnTo>
                  <a:pt x="85920" y="107400"/>
                </a:lnTo>
                <a:lnTo>
                  <a:pt x="85920" y="139619"/>
                </a:lnTo>
                <a:lnTo>
                  <a:pt x="128879" y="139619"/>
                </a:lnTo>
                <a:lnTo>
                  <a:pt x="128879" y="107400"/>
                </a:lnTo>
                <a:close/>
                <a:moveTo>
                  <a:pt x="64440" y="139619"/>
                </a:moveTo>
                <a:lnTo>
                  <a:pt x="64440" y="107400"/>
                </a:lnTo>
                <a:lnTo>
                  <a:pt x="21480" y="107400"/>
                </a:lnTo>
                <a:lnTo>
                  <a:pt x="21480" y="139619"/>
                </a:lnTo>
                <a:lnTo>
                  <a:pt x="64440" y="13961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6" name="Text 44"/>
          <p:cNvSpPr/>
          <p:nvPr/>
        </p:nvSpPr>
        <p:spPr>
          <a:xfrm>
            <a:off x="6395215" y="893564"/>
            <a:ext cx="5533226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5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消融实验对照表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6187290" y="1244117"/>
            <a:ext cx="5650077" cy="1543117"/>
          </a:xfrm>
          <a:custGeom>
            <a:avLst/>
            <a:gdLst/>
            <a:ahLst/>
            <a:cxnLst/>
            <a:rect l="l" t="t" r="r" b="b"/>
            <a:pathLst>
              <a:path w="5650077" h="1543117">
                <a:moveTo>
                  <a:pt x="68730" y="0"/>
                </a:moveTo>
                <a:lnTo>
                  <a:pt x="5581347" y="0"/>
                </a:lnTo>
                <a:cubicBezTo>
                  <a:pt x="5619305" y="0"/>
                  <a:pt x="5650077" y="30772"/>
                  <a:pt x="5650077" y="68730"/>
                </a:cubicBezTo>
                <a:lnTo>
                  <a:pt x="5650077" y="1474387"/>
                </a:lnTo>
                <a:cubicBezTo>
                  <a:pt x="5650077" y="1512345"/>
                  <a:pt x="5619305" y="1543117"/>
                  <a:pt x="5581347" y="1543117"/>
                </a:cubicBezTo>
                <a:lnTo>
                  <a:pt x="68730" y="1543117"/>
                </a:lnTo>
                <a:cubicBezTo>
                  <a:pt x="30772" y="1543117"/>
                  <a:pt x="0" y="1512345"/>
                  <a:pt x="0" y="1474387"/>
                </a:cubicBezTo>
                <a:lnTo>
                  <a:pt x="0" y="68730"/>
                </a:lnTo>
                <a:cubicBezTo>
                  <a:pt x="0" y="30772"/>
                  <a:pt x="30772" y="0"/>
                  <a:pt x="6873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5E7EB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/>
        </p:nvGraphicFramePr>
        <p:xfrm>
          <a:off x="6194163" y="1250991"/>
          <a:ext cx="5636330" cy="1529372"/>
        </p:xfrm>
        <a:graphic>
          <a:graphicData uri="http://schemas.openxmlformats.org/drawingml/2006/table">
            <a:tbl>
              <a:tblPr/>
              <a:tblGrid>
                <a:gridCol w="2697877"/>
                <a:gridCol w="1649658"/>
                <a:gridCol w="1288795"/>
              </a:tblGrid>
              <a:tr h="382343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对比项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预期变化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382343">
                <a:tc>
                  <a:txBody>
                    <a:bodyPr/>
                    <a:lstStyle/>
                    <a:p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CF → CF+OPT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Precision↑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+40%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2343">
                <a:tc>
                  <a:txBody>
                    <a:bodyPr/>
                    <a:lstStyle/>
                    <a:p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CF+OPT → Full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Recall↑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+15%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</a:tr>
              <a:tr h="382343">
                <a:tc>
                  <a:txBody>
                    <a:bodyPr/>
                    <a:lstStyle/>
                    <a:p>
                      <a:r>
                        <a:rPr lang="en-US" sz="900" b="1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Precision-Recall平衡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F1最优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0.90+</a:t>
                      </a:r>
                      <a:endParaRPr lang="en-US" sz="9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3104" marR="103104" marT="103104" marB="103104" anchor="ctr" anchorCtr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Text 46"/>
          <p:cNvSpPr/>
          <p:nvPr/>
        </p:nvSpPr>
        <p:spPr>
          <a:xfrm>
            <a:off x="6150344" y="2866281"/>
            <a:ext cx="5722249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Table 2: 消融实验预期指标变化 </a:t>
            </a:r>
            <a:r>
              <a:rPr lang="en-US" sz="6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*预估结果，待后续实验验证</a:t>
            </a:r>
            <a:endParaRPr lang="en-US" sz="1600"/>
          </a:p>
        </p:txBody>
      </p:sp>
      <p:sp>
        <p:nvSpPr>
          <p:cNvPr id="50" name="Shape 47"/>
          <p:cNvSpPr/>
          <p:nvPr/>
        </p:nvSpPr>
        <p:spPr>
          <a:xfrm>
            <a:off x="6212636" y="3209959"/>
            <a:ext cx="150359" cy="171839"/>
          </a:xfrm>
          <a:custGeom>
            <a:avLst/>
            <a:gdLst/>
            <a:ahLst/>
            <a:cxnLst/>
            <a:rect l="l" t="t" r="r" b="b"/>
            <a:pathLst>
              <a:path w="150359" h="171839">
                <a:moveTo>
                  <a:pt x="42960" y="0"/>
                </a:moveTo>
                <a:cubicBezTo>
                  <a:pt x="48900" y="0"/>
                  <a:pt x="53700" y="4799"/>
                  <a:pt x="53700" y="10740"/>
                </a:cubicBezTo>
                <a:lnTo>
                  <a:pt x="53700" y="21480"/>
                </a:lnTo>
                <a:lnTo>
                  <a:pt x="96660" y="21480"/>
                </a:lnTo>
                <a:lnTo>
                  <a:pt x="96660" y="10740"/>
                </a:lnTo>
                <a:cubicBezTo>
                  <a:pt x="96660" y="4799"/>
                  <a:pt x="101459" y="0"/>
                  <a:pt x="107400" y="0"/>
                </a:cubicBezTo>
                <a:cubicBezTo>
                  <a:pt x="113340" y="0"/>
                  <a:pt x="118140" y="4799"/>
                  <a:pt x="118140" y="10740"/>
                </a:cubicBezTo>
                <a:lnTo>
                  <a:pt x="118140" y="21480"/>
                </a:lnTo>
                <a:lnTo>
                  <a:pt x="128879" y="21480"/>
                </a:lnTo>
                <a:cubicBezTo>
                  <a:pt x="140727" y="21480"/>
                  <a:pt x="150359" y="31112"/>
                  <a:pt x="150359" y="42960"/>
                </a:cubicBezTo>
                <a:lnTo>
                  <a:pt x="150359" y="139619"/>
                </a:lnTo>
                <a:cubicBezTo>
                  <a:pt x="150359" y="151467"/>
                  <a:pt x="140727" y="161099"/>
                  <a:pt x="128879" y="161099"/>
                </a:cubicBezTo>
                <a:lnTo>
                  <a:pt x="21480" y="161099"/>
                </a:lnTo>
                <a:cubicBezTo>
                  <a:pt x="9632" y="161099"/>
                  <a:pt x="0" y="151467"/>
                  <a:pt x="0" y="139619"/>
                </a:cubicBezTo>
                <a:lnTo>
                  <a:pt x="0" y="42960"/>
                </a:lnTo>
                <a:cubicBezTo>
                  <a:pt x="0" y="31112"/>
                  <a:pt x="9632" y="21480"/>
                  <a:pt x="21480" y="21480"/>
                </a:cubicBezTo>
                <a:lnTo>
                  <a:pt x="32220" y="21480"/>
                </a:lnTo>
                <a:lnTo>
                  <a:pt x="32220" y="10740"/>
                </a:lnTo>
                <a:cubicBezTo>
                  <a:pt x="32220" y="4799"/>
                  <a:pt x="37019" y="0"/>
                  <a:pt x="42960" y="0"/>
                </a:cubicBezTo>
                <a:close/>
                <a:moveTo>
                  <a:pt x="21480" y="80550"/>
                </a:moveTo>
                <a:lnTo>
                  <a:pt x="21480" y="91290"/>
                </a:lnTo>
                <a:cubicBezTo>
                  <a:pt x="21480" y="94243"/>
                  <a:pt x="23896" y="96660"/>
                  <a:pt x="26850" y="96660"/>
                </a:cubicBezTo>
                <a:lnTo>
                  <a:pt x="37590" y="96660"/>
                </a:lnTo>
                <a:cubicBezTo>
                  <a:pt x="40543" y="96660"/>
                  <a:pt x="42960" y="94243"/>
                  <a:pt x="42960" y="91290"/>
                </a:cubicBezTo>
                <a:lnTo>
                  <a:pt x="42960" y="80550"/>
                </a:lnTo>
                <a:cubicBezTo>
                  <a:pt x="42960" y="77596"/>
                  <a:pt x="40543" y="75180"/>
                  <a:pt x="37590" y="75180"/>
                </a:cubicBezTo>
                <a:lnTo>
                  <a:pt x="26850" y="75180"/>
                </a:lnTo>
                <a:cubicBezTo>
                  <a:pt x="23896" y="75180"/>
                  <a:pt x="21480" y="77596"/>
                  <a:pt x="21480" y="80550"/>
                </a:cubicBezTo>
                <a:close/>
                <a:moveTo>
                  <a:pt x="64440" y="80550"/>
                </a:moveTo>
                <a:lnTo>
                  <a:pt x="64440" y="91290"/>
                </a:lnTo>
                <a:cubicBezTo>
                  <a:pt x="64440" y="94243"/>
                  <a:pt x="66856" y="96660"/>
                  <a:pt x="69810" y="96660"/>
                </a:cubicBezTo>
                <a:lnTo>
                  <a:pt x="80550" y="96660"/>
                </a:lnTo>
                <a:cubicBezTo>
                  <a:pt x="83503" y="96660"/>
                  <a:pt x="85920" y="94243"/>
                  <a:pt x="85920" y="91290"/>
                </a:cubicBezTo>
                <a:lnTo>
                  <a:pt x="85920" y="80550"/>
                </a:lnTo>
                <a:cubicBezTo>
                  <a:pt x="85920" y="77596"/>
                  <a:pt x="83503" y="75180"/>
                  <a:pt x="80550" y="75180"/>
                </a:cubicBezTo>
                <a:lnTo>
                  <a:pt x="69810" y="75180"/>
                </a:lnTo>
                <a:cubicBezTo>
                  <a:pt x="66856" y="75180"/>
                  <a:pt x="64440" y="77596"/>
                  <a:pt x="64440" y="80550"/>
                </a:cubicBezTo>
                <a:close/>
                <a:moveTo>
                  <a:pt x="112770" y="75180"/>
                </a:moveTo>
                <a:cubicBezTo>
                  <a:pt x="109816" y="75180"/>
                  <a:pt x="107400" y="77596"/>
                  <a:pt x="107400" y="80550"/>
                </a:cubicBezTo>
                <a:lnTo>
                  <a:pt x="107400" y="91290"/>
                </a:lnTo>
                <a:cubicBezTo>
                  <a:pt x="107400" y="94243"/>
                  <a:pt x="109816" y="96660"/>
                  <a:pt x="112770" y="96660"/>
                </a:cubicBezTo>
                <a:lnTo>
                  <a:pt x="123510" y="96660"/>
                </a:lnTo>
                <a:cubicBezTo>
                  <a:pt x="126463" y="96660"/>
                  <a:pt x="128879" y="94243"/>
                  <a:pt x="128879" y="91290"/>
                </a:cubicBezTo>
                <a:lnTo>
                  <a:pt x="128879" y="80550"/>
                </a:lnTo>
                <a:cubicBezTo>
                  <a:pt x="128879" y="77596"/>
                  <a:pt x="126463" y="75180"/>
                  <a:pt x="123510" y="75180"/>
                </a:cubicBezTo>
                <a:lnTo>
                  <a:pt x="112770" y="75180"/>
                </a:lnTo>
                <a:close/>
                <a:moveTo>
                  <a:pt x="21480" y="123510"/>
                </a:moveTo>
                <a:lnTo>
                  <a:pt x="21480" y="134249"/>
                </a:lnTo>
                <a:cubicBezTo>
                  <a:pt x="21480" y="137203"/>
                  <a:pt x="23896" y="139619"/>
                  <a:pt x="26850" y="139619"/>
                </a:cubicBezTo>
                <a:lnTo>
                  <a:pt x="37590" y="139619"/>
                </a:lnTo>
                <a:cubicBezTo>
                  <a:pt x="40543" y="139619"/>
                  <a:pt x="42960" y="137203"/>
                  <a:pt x="42960" y="134249"/>
                </a:cubicBezTo>
                <a:lnTo>
                  <a:pt x="42960" y="123510"/>
                </a:lnTo>
                <a:cubicBezTo>
                  <a:pt x="42960" y="120556"/>
                  <a:pt x="40543" y="118140"/>
                  <a:pt x="37590" y="118140"/>
                </a:cubicBezTo>
                <a:lnTo>
                  <a:pt x="26850" y="118140"/>
                </a:lnTo>
                <a:cubicBezTo>
                  <a:pt x="23896" y="118140"/>
                  <a:pt x="21480" y="120556"/>
                  <a:pt x="21480" y="123510"/>
                </a:cubicBezTo>
                <a:close/>
                <a:moveTo>
                  <a:pt x="69810" y="118140"/>
                </a:moveTo>
                <a:cubicBezTo>
                  <a:pt x="66856" y="118140"/>
                  <a:pt x="64440" y="120556"/>
                  <a:pt x="64440" y="123510"/>
                </a:cubicBezTo>
                <a:lnTo>
                  <a:pt x="64440" y="134249"/>
                </a:lnTo>
                <a:cubicBezTo>
                  <a:pt x="64440" y="137203"/>
                  <a:pt x="66856" y="139619"/>
                  <a:pt x="69810" y="139619"/>
                </a:cubicBezTo>
                <a:lnTo>
                  <a:pt x="80550" y="139619"/>
                </a:lnTo>
                <a:cubicBezTo>
                  <a:pt x="83503" y="139619"/>
                  <a:pt x="85920" y="137203"/>
                  <a:pt x="85920" y="134249"/>
                </a:cubicBezTo>
                <a:lnTo>
                  <a:pt x="85920" y="123510"/>
                </a:lnTo>
                <a:cubicBezTo>
                  <a:pt x="85920" y="120556"/>
                  <a:pt x="83503" y="118140"/>
                  <a:pt x="80550" y="118140"/>
                </a:cubicBezTo>
                <a:lnTo>
                  <a:pt x="69810" y="118140"/>
                </a:lnTo>
                <a:close/>
                <a:moveTo>
                  <a:pt x="107400" y="123510"/>
                </a:moveTo>
                <a:lnTo>
                  <a:pt x="107400" y="134249"/>
                </a:lnTo>
                <a:cubicBezTo>
                  <a:pt x="107400" y="137203"/>
                  <a:pt x="109816" y="139619"/>
                  <a:pt x="112770" y="139619"/>
                </a:cubicBezTo>
                <a:lnTo>
                  <a:pt x="123510" y="139619"/>
                </a:lnTo>
                <a:cubicBezTo>
                  <a:pt x="126463" y="139619"/>
                  <a:pt x="128879" y="137203"/>
                  <a:pt x="128879" y="134249"/>
                </a:cubicBezTo>
                <a:lnTo>
                  <a:pt x="128879" y="123510"/>
                </a:lnTo>
                <a:cubicBezTo>
                  <a:pt x="128879" y="120556"/>
                  <a:pt x="126463" y="118140"/>
                  <a:pt x="123510" y="118140"/>
                </a:cubicBezTo>
                <a:lnTo>
                  <a:pt x="112770" y="118140"/>
                </a:lnTo>
                <a:cubicBezTo>
                  <a:pt x="109816" y="118140"/>
                  <a:pt x="107400" y="120556"/>
                  <a:pt x="107400" y="12351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1" name="Text 48"/>
          <p:cNvSpPr/>
          <p:nvPr/>
        </p:nvSpPr>
        <p:spPr>
          <a:xfrm>
            <a:off x="6395215" y="3175592"/>
            <a:ext cx="5533226" cy="240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35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接下来2个月的实验批次安排</a:t>
            </a:r>
            <a:endParaRPr lang="en-US" sz="1600"/>
          </a:p>
        </p:txBody>
      </p:sp>
      <p:sp>
        <p:nvSpPr>
          <p:cNvPr id="52" name="Shape 49"/>
          <p:cNvSpPr/>
          <p:nvPr/>
        </p:nvSpPr>
        <p:spPr>
          <a:xfrm>
            <a:off x="6180416" y="3519270"/>
            <a:ext cx="5662106" cy="584254"/>
          </a:xfrm>
          <a:custGeom>
            <a:avLst/>
            <a:gdLst/>
            <a:ahLst/>
            <a:cxnLst/>
            <a:rect l="l" t="t" r="r" b="b"/>
            <a:pathLst>
              <a:path w="5662106" h="584254">
                <a:moveTo>
                  <a:pt x="34366" y="0"/>
                </a:moveTo>
                <a:lnTo>
                  <a:pt x="5627740" y="0"/>
                </a:lnTo>
                <a:cubicBezTo>
                  <a:pt x="5646720" y="0"/>
                  <a:pt x="5662106" y="15386"/>
                  <a:pt x="5662106" y="34366"/>
                </a:cubicBezTo>
                <a:lnTo>
                  <a:pt x="5662106" y="549888"/>
                </a:lnTo>
                <a:cubicBezTo>
                  <a:pt x="5662106" y="568868"/>
                  <a:pt x="5646720" y="584254"/>
                  <a:pt x="5627740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53" name="Shape 50"/>
          <p:cNvSpPr/>
          <p:nvPr/>
        </p:nvSpPr>
        <p:spPr>
          <a:xfrm>
            <a:off x="6283520" y="3639558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34368" y="0"/>
                </a:moveTo>
                <a:lnTo>
                  <a:pt x="309311" y="0"/>
                </a:lnTo>
                <a:cubicBezTo>
                  <a:pt x="328292" y="0"/>
                  <a:pt x="343679" y="15387"/>
                  <a:pt x="343679" y="34368"/>
                </a:cubicBezTo>
                <a:lnTo>
                  <a:pt x="343679" y="309311"/>
                </a:lnTo>
                <a:cubicBezTo>
                  <a:pt x="343679" y="328292"/>
                  <a:pt x="328292" y="343679"/>
                  <a:pt x="309311" y="343679"/>
                </a:cubicBezTo>
                <a:lnTo>
                  <a:pt x="34368" y="343679"/>
                </a:lnTo>
                <a:cubicBezTo>
                  <a:pt x="15387" y="343679"/>
                  <a:pt x="0" y="328292"/>
                  <a:pt x="0" y="30931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4" name="Text 51"/>
          <p:cNvSpPr/>
          <p:nvPr/>
        </p:nvSpPr>
        <p:spPr>
          <a:xfrm>
            <a:off x="6249152" y="3639558"/>
            <a:ext cx="412414" cy="343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W1-2</a:t>
            </a:r>
            <a:endParaRPr lang="en-US" sz="1600"/>
          </a:p>
        </p:txBody>
      </p:sp>
      <p:sp>
        <p:nvSpPr>
          <p:cNvPr id="55" name="Text 52"/>
          <p:cNvSpPr/>
          <p:nvPr/>
        </p:nvSpPr>
        <p:spPr>
          <a:xfrm>
            <a:off x="6730302" y="3622374"/>
            <a:ext cx="507785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特征注入对比实验</a:t>
            </a:r>
            <a:endParaRPr lang="en-US" sz="1600"/>
          </a:p>
        </p:txBody>
      </p:sp>
      <p:sp>
        <p:nvSpPr>
          <p:cNvPr id="56" name="Text 53"/>
          <p:cNvSpPr/>
          <p:nvPr/>
        </p:nvSpPr>
        <p:spPr>
          <a:xfrm>
            <a:off x="6730302" y="3828581"/>
            <a:ext cx="506926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验证情感/概念特征独立贡献</a:t>
            </a:r>
            <a:endParaRPr lang="en-US" sz="1600"/>
          </a:p>
        </p:txBody>
      </p:sp>
      <p:sp>
        <p:nvSpPr>
          <p:cNvPr id="57" name="Shape 54"/>
          <p:cNvSpPr/>
          <p:nvPr/>
        </p:nvSpPr>
        <p:spPr>
          <a:xfrm>
            <a:off x="6180416" y="4172260"/>
            <a:ext cx="5662106" cy="584254"/>
          </a:xfrm>
          <a:custGeom>
            <a:avLst/>
            <a:gdLst/>
            <a:ahLst/>
            <a:cxnLst/>
            <a:rect l="l" t="t" r="r" b="b"/>
            <a:pathLst>
              <a:path w="5662106" h="584254">
                <a:moveTo>
                  <a:pt x="34366" y="0"/>
                </a:moveTo>
                <a:lnTo>
                  <a:pt x="5627740" y="0"/>
                </a:lnTo>
                <a:cubicBezTo>
                  <a:pt x="5646720" y="0"/>
                  <a:pt x="5662106" y="15386"/>
                  <a:pt x="5662106" y="34366"/>
                </a:cubicBezTo>
                <a:lnTo>
                  <a:pt x="5662106" y="549888"/>
                </a:lnTo>
                <a:cubicBezTo>
                  <a:pt x="5662106" y="568868"/>
                  <a:pt x="5646720" y="584254"/>
                  <a:pt x="5627740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58" name="Shape 55"/>
          <p:cNvSpPr/>
          <p:nvPr/>
        </p:nvSpPr>
        <p:spPr>
          <a:xfrm>
            <a:off x="6283520" y="4292547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34368" y="0"/>
                </a:moveTo>
                <a:lnTo>
                  <a:pt x="309311" y="0"/>
                </a:lnTo>
                <a:cubicBezTo>
                  <a:pt x="328292" y="0"/>
                  <a:pt x="343679" y="15387"/>
                  <a:pt x="343679" y="34368"/>
                </a:cubicBezTo>
                <a:lnTo>
                  <a:pt x="343679" y="309311"/>
                </a:lnTo>
                <a:cubicBezTo>
                  <a:pt x="343679" y="328292"/>
                  <a:pt x="328292" y="343679"/>
                  <a:pt x="309311" y="343679"/>
                </a:cubicBezTo>
                <a:lnTo>
                  <a:pt x="34368" y="343679"/>
                </a:lnTo>
                <a:cubicBezTo>
                  <a:pt x="15387" y="343679"/>
                  <a:pt x="0" y="328292"/>
                  <a:pt x="0" y="30931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9" name="Text 56"/>
          <p:cNvSpPr/>
          <p:nvPr/>
        </p:nvSpPr>
        <p:spPr>
          <a:xfrm>
            <a:off x="6249152" y="4292547"/>
            <a:ext cx="412414" cy="343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W3-4</a:t>
            </a:r>
            <a:endParaRPr lang="en-US" sz="1600"/>
          </a:p>
        </p:txBody>
      </p:sp>
      <p:sp>
        <p:nvSpPr>
          <p:cNvPr id="60" name="Text 57"/>
          <p:cNvSpPr/>
          <p:nvPr/>
        </p:nvSpPr>
        <p:spPr>
          <a:xfrm>
            <a:off x="6730302" y="4275363"/>
            <a:ext cx="507785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级联阈值调优</a:t>
            </a:r>
            <a:endParaRPr lang="en-US" sz="1600"/>
          </a:p>
        </p:txBody>
      </p:sp>
      <p:sp>
        <p:nvSpPr>
          <p:cNvPr id="61" name="Text 58"/>
          <p:cNvSpPr/>
          <p:nvPr/>
        </p:nvSpPr>
        <p:spPr>
          <a:xfrm>
            <a:off x="6730302" y="4481570"/>
            <a:ext cx="506926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自动化搜索最优平衡点</a:t>
            </a:r>
            <a:endParaRPr lang="en-US" sz="1600"/>
          </a:p>
        </p:txBody>
      </p:sp>
      <p:sp>
        <p:nvSpPr>
          <p:cNvPr id="62" name="Shape 59"/>
          <p:cNvSpPr/>
          <p:nvPr/>
        </p:nvSpPr>
        <p:spPr>
          <a:xfrm>
            <a:off x="6180416" y="4825249"/>
            <a:ext cx="5662106" cy="584254"/>
          </a:xfrm>
          <a:custGeom>
            <a:avLst/>
            <a:gdLst/>
            <a:ahLst/>
            <a:cxnLst/>
            <a:rect l="l" t="t" r="r" b="b"/>
            <a:pathLst>
              <a:path w="5662106" h="584254">
                <a:moveTo>
                  <a:pt x="34366" y="0"/>
                </a:moveTo>
                <a:lnTo>
                  <a:pt x="5627740" y="0"/>
                </a:lnTo>
                <a:cubicBezTo>
                  <a:pt x="5646720" y="0"/>
                  <a:pt x="5662106" y="15386"/>
                  <a:pt x="5662106" y="34366"/>
                </a:cubicBezTo>
                <a:lnTo>
                  <a:pt x="5662106" y="549888"/>
                </a:lnTo>
                <a:cubicBezTo>
                  <a:pt x="5662106" y="568868"/>
                  <a:pt x="5646720" y="584254"/>
                  <a:pt x="5627740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63" name="Shape 60"/>
          <p:cNvSpPr/>
          <p:nvPr/>
        </p:nvSpPr>
        <p:spPr>
          <a:xfrm>
            <a:off x="6283520" y="4945537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34368" y="0"/>
                </a:moveTo>
                <a:lnTo>
                  <a:pt x="309311" y="0"/>
                </a:lnTo>
                <a:cubicBezTo>
                  <a:pt x="328292" y="0"/>
                  <a:pt x="343679" y="15387"/>
                  <a:pt x="343679" y="34368"/>
                </a:cubicBezTo>
                <a:lnTo>
                  <a:pt x="343679" y="309311"/>
                </a:lnTo>
                <a:cubicBezTo>
                  <a:pt x="343679" y="328292"/>
                  <a:pt x="328292" y="343679"/>
                  <a:pt x="309311" y="343679"/>
                </a:cubicBezTo>
                <a:lnTo>
                  <a:pt x="34368" y="343679"/>
                </a:lnTo>
                <a:cubicBezTo>
                  <a:pt x="15387" y="343679"/>
                  <a:pt x="0" y="328292"/>
                  <a:pt x="0" y="30931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4" name="Text 61"/>
          <p:cNvSpPr/>
          <p:nvPr/>
        </p:nvSpPr>
        <p:spPr>
          <a:xfrm>
            <a:off x="6249152" y="4945537"/>
            <a:ext cx="412414" cy="343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W5-6</a:t>
            </a:r>
            <a:endParaRPr lang="en-US" sz="1600"/>
          </a:p>
        </p:txBody>
      </p:sp>
      <p:sp>
        <p:nvSpPr>
          <p:cNvPr id="65" name="Text 62"/>
          <p:cNvSpPr/>
          <p:nvPr/>
        </p:nvSpPr>
        <p:spPr>
          <a:xfrm>
            <a:off x="6730302" y="4928353"/>
            <a:ext cx="507785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在线稳定复验</a:t>
            </a:r>
            <a:endParaRPr lang="en-US" sz="1600"/>
          </a:p>
        </p:txBody>
      </p:sp>
      <p:sp>
        <p:nvSpPr>
          <p:cNvPr id="66" name="Text 63"/>
          <p:cNvSpPr/>
          <p:nvPr/>
        </p:nvSpPr>
        <p:spPr>
          <a:xfrm>
            <a:off x="6730302" y="5134560"/>
            <a:ext cx="506926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GPU环境下的完整验证</a:t>
            </a:r>
            <a:endParaRPr lang="en-US" sz="1600"/>
          </a:p>
        </p:txBody>
      </p:sp>
      <p:sp>
        <p:nvSpPr>
          <p:cNvPr id="67" name="Shape 64"/>
          <p:cNvSpPr/>
          <p:nvPr/>
        </p:nvSpPr>
        <p:spPr>
          <a:xfrm>
            <a:off x="6180416" y="5478238"/>
            <a:ext cx="5662106" cy="584254"/>
          </a:xfrm>
          <a:custGeom>
            <a:avLst/>
            <a:gdLst/>
            <a:ahLst/>
            <a:cxnLst/>
            <a:rect l="l" t="t" r="r" b="b"/>
            <a:pathLst>
              <a:path w="5662106" h="584254">
                <a:moveTo>
                  <a:pt x="34366" y="0"/>
                </a:moveTo>
                <a:lnTo>
                  <a:pt x="5627740" y="0"/>
                </a:lnTo>
                <a:cubicBezTo>
                  <a:pt x="5646720" y="0"/>
                  <a:pt x="5662106" y="15386"/>
                  <a:pt x="5662106" y="34366"/>
                </a:cubicBezTo>
                <a:lnTo>
                  <a:pt x="5662106" y="549888"/>
                </a:lnTo>
                <a:cubicBezTo>
                  <a:pt x="5662106" y="568868"/>
                  <a:pt x="5646720" y="584254"/>
                  <a:pt x="5627740" y="584254"/>
                </a:cubicBezTo>
                <a:lnTo>
                  <a:pt x="34366" y="584254"/>
                </a:lnTo>
                <a:cubicBezTo>
                  <a:pt x="15399" y="584254"/>
                  <a:pt x="0" y="568855"/>
                  <a:pt x="0" y="549888"/>
                </a:cubicBezTo>
                <a:lnTo>
                  <a:pt x="0" y="34366"/>
                </a:lnTo>
                <a:cubicBezTo>
                  <a:pt x="0" y="15386"/>
                  <a:pt x="15386" y="0"/>
                  <a:pt x="34366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68" name="Shape 65"/>
          <p:cNvSpPr/>
          <p:nvPr/>
        </p:nvSpPr>
        <p:spPr>
          <a:xfrm>
            <a:off x="6283520" y="5598526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34368" y="0"/>
                </a:moveTo>
                <a:lnTo>
                  <a:pt x="309311" y="0"/>
                </a:lnTo>
                <a:cubicBezTo>
                  <a:pt x="328292" y="0"/>
                  <a:pt x="343679" y="15387"/>
                  <a:pt x="343679" y="34368"/>
                </a:cubicBezTo>
                <a:lnTo>
                  <a:pt x="343679" y="309311"/>
                </a:lnTo>
                <a:cubicBezTo>
                  <a:pt x="343679" y="328292"/>
                  <a:pt x="328292" y="343679"/>
                  <a:pt x="309311" y="343679"/>
                </a:cubicBezTo>
                <a:lnTo>
                  <a:pt x="34368" y="343679"/>
                </a:lnTo>
                <a:cubicBezTo>
                  <a:pt x="15387" y="343679"/>
                  <a:pt x="0" y="328292"/>
                  <a:pt x="0" y="30931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9" name="Text 66"/>
          <p:cNvSpPr/>
          <p:nvPr/>
        </p:nvSpPr>
        <p:spPr>
          <a:xfrm>
            <a:off x="6249152" y="5598526"/>
            <a:ext cx="412414" cy="343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W7-8</a:t>
            </a:r>
            <a:endParaRPr lang="en-US" sz="1600"/>
          </a:p>
        </p:txBody>
      </p:sp>
      <p:sp>
        <p:nvSpPr>
          <p:cNvPr id="70" name="Text 67"/>
          <p:cNvSpPr/>
          <p:nvPr/>
        </p:nvSpPr>
        <p:spPr>
          <a:xfrm>
            <a:off x="6730302" y="5581342"/>
            <a:ext cx="5077852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8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消融统计与论文整合</a:t>
            </a:r>
            <a:endParaRPr lang="en-US" sz="1600"/>
          </a:p>
        </p:txBody>
      </p:sp>
      <p:sp>
        <p:nvSpPr>
          <p:cNvPr id="71" name="Text 68"/>
          <p:cNvSpPr/>
          <p:nvPr/>
        </p:nvSpPr>
        <p:spPr>
          <a:xfrm>
            <a:off x="6730302" y="5787549"/>
            <a:ext cx="5069260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数据整理与结论撰写</a:t>
            </a:r>
            <a:endParaRPr lang="en-US" sz="1600"/>
          </a:p>
        </p:txBody>
      </p:sp>
      <p:sp>
        <p:nvSpPr>
          <p:cNvPr id="72" name="Shape 69"/>
          <p:cNvSpPr/>
          <p:nvPr/>
        </p:nvSpPr>
        <p:spPr>
          <a:xfrm>
            <a:off x="343679" y="6199964"/>
            <a:ext cx="11504643" cy="412414"/>
          </a:xfrm>
          <a:custGeom>
            <a:avLst/>
            <a:gdLst/>
            <a:ahLst/>
            <a:cxnLst/>
            <a:rect l="l" t="t" r="r" b="b"/>
            <a:pathLst>
              <a:path w="11504643" h="412414">
                <a:moveTo>
                  <a:pt x="68737" y="0"/>
                </a:moveTo>
                <a:lnTo>
                  <a:pt x="11435906" y="0"/>
                </a:lnTo>
                <a:cubicBezTo>
                  <a:pt x="11473868" y="0"/>
                  <a:pt x="11504643" y="30775"/>
                  <a:pt x="11504643" y="68737"/>
                </a:cubicBezTo>
                <a:lnTo>
                  <a:pt x="11504643" y="343677"/>
                </a:lnTo>
                <a:cubicBezTo>
                  <a:pt x="11504643" y="381640"/>
                  <a:pt x="11473868" y="412414"/>
                  <a:pt x="11435906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73" name="Shape 70"/>
          <p:cNvSpPr/>
          <p:nvPr/>
        </p:nvSpPr>
        <p:spPr>
          <a:xfrm>
            <a:off x="3418421" y="6337435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83100" y="-5075"/>
                </a:moveTo>
                <a:cubicBezTo>
                  <a:pt x="82000" y="-7223"/>
                  <a:pt x="79771" y="-8592"/>
                  <a:pt x="77355" y="-8592"/>
                </a:cubicBezTo>
                <a:cubicBezTo>
                  <a:pt x="74938" y="-8592"/>
                  <a:pt x="72710" y="-7223"/>
                  <a:pt x="71609" y="-5075"/>
                </a:cubicBezTo>
                <a:lnTo>
                  <a:pt x="51847" y="33643"/>
                </a:lnTo>
                <a:lnTo>
                  <a:pt x="8914" y="40463"/>
                </a:lnTo>
                <a:cubicBezTo>
                  <a:pt x="6525" y="40839"/>
                  <a:pt x="4538" y="42530"/>
                  <a:pt x="3786" y="44839"/>
                </a:cubicBezTo>
                <a:cubicBezTo>
                  <a:pt x="3034" y="47148"/>
                  <a:pt x="3652" y="49672"/>
                  <a:pt x="5343" y="51391"/>
                </a:cubicBezTo>
                <a:lnTo>
                  <a:pt x="36059" y="82134"/>
                </a:lnTo>
                <a:lnTo>
                  <a:pt x="29293" y="125067"/>
                </a:lnTo>
                <a:cubicBezTo>
                  <a:pt x="28917" y="127456"/>
                  <a:pt x="29911" y="129873"/>
                  <a:pt x="31871" y="131296"/>
                </a:cubicBezTo>
                <a:cubicBezTo>
                  <a:pt x="33831" y="132719"/>
                  <a:pt x="36408" y="132934"/>
                  <a:pt x="38583" y="131833"/>
                </a:cubicBezTo>
                <a:lnTo>
                  <a:pt x="77355" y="112125"/>
                </a:lnTo>
                <a:lnTo>
                  <a:pt x="116099" y="131833"/>
                </a:lnTo>
                <a:cubicBezTo>
                  <a:pt x="118247" y="132934"/>
                  <a:pt x="120851" y="132719"/>
                  <a:pt x="122811" y="131296"/>
                </a:cubicBezTo>
                <a:cubicBezTo>
                  <a:pt x="124771" y="129873"/>
                  <a:pt x="125765" y="127483"/>
                  <a:pt x="125389" y="125067"/>
                </a:cubicBezTo>
                <a:lnTo>
                  <a:pt x="118596" y="82134"/>
                </a:lnTo>
                <a:lnTo>
                  <a:pt x="149312" y="51391"/>
                </a:lnTo>
                <a:cubicBezTo>
                  <a:pt x="151031" y="49672"/>
                  <a:pt x="151621" y="47148"/>
                  <a:pt x="150870" y="44839"/>
                </a:cubicBezTo>
                <a:cubicBezTo>
                  <a:pt x="150118" y="42530"/>
                  <a:pt x="148158" y="40839"/>
                  <a:pt x="145741" y="40463"/>
                </a:cubicBezTo>
                <a:lnTo>
                  <a:pt x="102835" y="33643"/>
                </a:lnTo>
                <a:lnTo>
                  <a:pt x="83100" y="-50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4" name="Text 71"/>
          <p:cNvSpPr/>
          <p:nvPr/>
        </p:nvSpPr>
        <p:spPr>
          <a:xfrm>
            <a:off x="630756" y="6303067"/>
            <a:ext cx="11148830" cy="20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8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计划回归稳健的特征验证与消融，确保每一项指标提升都有据可查 </a:t>
            </a:r>
            <a:endParaRPr lang="en-US" sz="1600"/>
          </a:p>
        </p:txBody>
      </p:sp>
      <p:sp>
        <p:nvSpPr>
          <p:cNvPr id="75" name="Text 72"/>
          <p:cNvSpPr/>
          <p:nvPr/>
        </p:nvSpPr>
        <p:spPr>
          <a:xfrm>
            <a:off x="283535" y="6681114"/>
            <a:ext cx="11564786" cy="1718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94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33375"/>
            <a:ext cx="357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5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6.1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675481" y="317500"/>
            <a:ext cx="1785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进度与时间安排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17500" y="666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Shape 3"/>
          <p:cNvSpPr/>
          <p:nvPr/>
        </p:nvSpPr>
        <p:spPr>
          <a:xfrm>
            <a:off x="337344" y="857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515938" y="825500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项目进度Gantt图</a:t>
            </a:r>
            <a:endParaRPr lang="en-US" sz="1600"/>
          </a:p>
        </p:txBody>
      </p:sp>
      <p:pic>
        <p:nvPicPr>
          <p:cNvPr id="7" name="Image 0" descr="https://kimi-img.moonshot.cn/pub/slides/26-03-17-20:24:06-d6skfpique5gbfamvj7g.png"/>
          <p:cNvPicPr>
            <a:picLocks noChangeAspect="1"/>
          </p:cNvPicPr>
          <p:nvPr/>
        </p:nvPicPr>
        <p:blipFill>
          <a:blip r:embed="rId1"/>
          <a:srcRect t="34" b="34"/>
          <a:stretch>
            <a:fillRect/>
          </a:stretch>
        </p:blipFill>
        <p:spPr>
          <a:xfrm>
            <a:off x="317500" y="1143000"/>
            <a:ext cx="4683125" cy="3175000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289719" y="4381500"/>
            <a:ext cx="5754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20000"/>
              </a:lnSpc>
            </a:pPr>
            <a:r>
              <a:rPr lang="en-US" sz="8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Figure 4: 项目进度甘特图（2025.11 - 2026.05）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6195219" y="857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0" name="Text 7"/>
          <p:cNvSpPr/>
          <p:nvPr/>
        </p:nvSpPr>
        <p:spPr>
          <a:xfrm>
            <a:off x="6373813" y="825500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已完成工作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6191250" y="11430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12" name="Shape 9"/>
          <p:cNvSpPr/>
          <p:nvPr/>
        </p:nvSpPr>
        <p:spPr>
          <a:xfrm>
            <a:off x="6191250" y="11430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3" name="Shape 10"/>
          <p:cNvSpPr/>
          <p:nvPr/>
        </p:nvSpPr>
        <p:spPr>
          <a:xfrm>
            <a:off x="6326188" y="1270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A63E"/>
          </a:solidFill>
        </p:spPr>
      </p:sp>
      <p:sp>
        <p:nvSpPr>
          <p:cNvPr id="14" name="Text 11"/>
          <p:cNvSpPr/>
          <p:nvPr/>
        </p:nvSpPr>
        <p:spPr>
          <a:xfrm>
            <a:off x="6556375" y="12382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文献调研与背景分析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191250" y="15875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16" name="Shape 13"/>
          <p:cNvSpPr/>
          <p:nvPr/>
        </p:nvSpPr>
        <p:spPr>
          <a:xfrm>
            <a:off x="6191250" y="15875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7" name="Shape 14"/>
          <p:cNvSpPr/>
          <p:nvPr/>
        </p:nvSpPr>
        <p:spPr>
          <a:xfrm>
            <a:off x="6326188" y="1714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9844" y="25797"/>
                </a:moveTo>
                <a:cubicBezTo>
                  <a:pt x="23129" y="25797"/>
                  <a:pt x="25797" y="23129"/>
                  <a:pt x="25797" y="19844"/>
                </a:cubicBezTo>
                <a:cubicBezTo>
                  <a:pt x="25797" y="16558"/>
                  <a:pt x="23129" y="13891"/>
                  <a:pt x="19844" y="13891"/>
                </a:cubicBezTo>
                <a:cubicBezTo>
                  <a:pt x="16558" y="13891"/>
                  <a:pt x="13891" y="16558"/>
                  <a:pt x="13891" y="19844"/>
                </a:cubicBezTo>
                <a:cubicBezTo>
                  <a:pt x="13891" y="23129"/>
                  <a:pt x="16558" y="25797"/>
                  <a:pt x="19844" y="25797"/>
                </a:cubicBezTo>
                <a:close/>
                <a:moveTo>
                  <a:pt x="39688" y="19844"/>
                </a:moveTo>
                <a:cubicBezTo>
                  <a:pt x="39688" y="27980"/>
                  <a:pt x="34801" y="34975"/>
                  <a:pt x="27781" y="38026"/>
                </a:cubicBezTo>
                <a:lnTo>
                  <a:pt x="27781" y="55563"/>
                </a:lnTo>
                <a:lnTo>
                  <a:pt x="71438" y="55563"/>
                </a:lnTo>
                <a:cubicBezTo>
                  <a:pt x="78011" y="55563"/>
                  <a:pt x="83344" y="50229"/>
                  <a:pt x="83344" y="43656"/>
                </a:cubicBezTo>
                <a:lnTo>
                  <a:pt x="83344" y="38026"/>
                </a:lnTo>
                <a:cubicBezTo>
                  <a:pt x="76324" y="34975"/>
                  <a:pt x="71438" y="27980"/>
                  <a:pt x="71438" y="19844"/>
                </a:cubicBezTo>
                <a:cubicBezTo>
                  <a:pt x="71438" y="8880"/>
                  <a:pt x="80318" y="0"/>
                  <a:pt x="91281" y="0"/>
                </a:cubicBezTo>
                <a:cubicBezTo>
                  <a:pt x="102245" y="0"/>
                  <a:pt x="111125" y="8880"/>
                  <a:pt x="111125" y="19844"/>
                </a:cubicBezTo>
                <a:cubicBezTo>
                  <a:pt x="111125" y="27980"/>
                  <a:pt x="106238" y="34975"/>
                  <a:pt x="99219" y="38026"/>
                </a:cubicBezTo>
                <a:lnTo>
                  <a:pt x="99219" y="43656"/>
                </a:lnTo>
                <a:cubicBezTo>
                  <a:pt x="99219" y="59010"/>
                  <a:pt x="86792" y="71438"/>
                  <a:pt x="71438" y="71438"/>
                </a:cubicBezTo>
                <a:lnTo>
                  <a:pt x="27781" y="71438"/>
                </a:lnTo>
                <a:lnTo>
                  <a:pt x="27781" y="88974"/>
                </a:lnTo>
                <a:cubicBezTo>
                  <a:pt x="34801" y="92025"/>
                  <a:pt x="39688" y="99020"/>
                  <a:pt x="39688" y="107156"/>
                </a:cubicBezTo>
                <a:cubicBezTo>
                  <a:pt x="39688" y="118120"/>
                  <a:pt x="30807" y="127000"/>
                  <a:pt x="19844" y="127000"/>
                </a:cubicBezTo>
                <a:cubicBezTo>
                  <a:pt x="8880" y="127000"/>
                  <a:pt x="0" y="118120"/>
                  <a:pt x="0" y="107156"/>
                </a:cubicBezTo>
                <a:cubicBezTo>
                  <a:pt x="0" y="99020"/>
                  <a:pt x="4887" y="92025"/>
                  <a:pt x="11906" y="88974"/>
                </a:cubicBezTo>
                <a:lnTo>
                  <a:pt x="11906" y="38050"/>
                </a:lnTo>
                <a:cubicBezTo>
                  <a:pt x="4887" y="34975"/>
                  <a:pt x="0" y="27980"/>
                  <a:pt x="0" y="19844"/>
                </a:cubicBezTo>
                <a:cubicBezTo>
                  <a:pt x="0" y="8880"/>
                  <a:pt x="8880" y="0"/>
                  <a:pt x="19844" y="0"/>
                </a:cubicBezTo>
                <a:cubicBezTo>
                  <a:pt x="30807" y="0"/>
                  <a:pt x="39688" y="8880"/>
                  <a:pt x="39688" y="19844"/>
                </a:cubicBezTo>
                <a:close/>
                <a:moveTo>
                  <a:pt x="97234" y="19844"/>
                </a:moveTo>
                <a:cubicBezTo>
                  <a:pt x="97234" y="16558"/>
                  <a:pt x="94567" y="13891"/>
                  <a:pt x="91281" y="13891"/>
                </a:cubicBezTo>
                <a:cubicBezTo>
                  <a:pt x="87996" y="13891"/>
                  <a:pt x="85328" y="16558"/>
                  <a:pt x="85328" y="19844"/>
                </a:cubicBezTo>
                <a:cubicBezTo>
                  <a:pt x="85328" y="23129"/>
                  <a:pt x="87996" y="25797"/>
                  <a:pt x="91281" y="25797"/>
                </a:cubicBezTo>
                <a:cubicBezTo>
                  <a:pt x="94567" y="25797"/>
                  <a:pt x="97234" y="23129"/>
                  <a:pt x="97234" y="19844"/>
                </a:cubicBezTo>
                <a:close/>
                <a:moveTo>
                  <a:pt x="19844" y="113109"/>
                </a:moveTo>
                <a:cubicBezTo>
                  <a:pt x="23129" y="113109"/>
                  <a:pt x="25797" y="110442"/>
                  <a:pt x="25797" y="107156"/>
                </a:cubicBezTo>
                <a:cubicBezTo>
                  <a:pt x="25797" y="103871"/>
                  <a:pt x="23129" y="101203"/>
                  <a:pt x="19844" y="101203"/>
                </a:cubicBezTo>
                <a:cubicBezTo>
                  <a:pt x="16558" y="101203"/>
                  <a:pt x="13891" y="103871"/>
                  <a:pt x="13891" y="107156"/>
                </a:cubicBezTo>
                <a:cubicBezTo>
                  <a:pt x="13891" y="110442"/>
                  <a:pt x="16558" y="113109"/>
                  <a:pt x="19844" y="113109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8" name="Text 15"/>
          <p:cNvSpPr/>
          <p:nvPr/>
        </p:nvSpPr>
        <p:spPr>
          <a:xfrm>
            <a:off x="6556375" y="1682750"/>
            <a:ext cx="146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主干复现与评估闭环搭建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>
          <a:xfrm>
            <a:off x="6191250" y="20320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20" name="Shape 17"/>
          <p:cNvSpPr/>
          <p:nvPr/>
        </p:nvSpPr>
        <p:spPr>
          <a:xfrm>
            <a:off x="6191250" y="20320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1" name="Shape 18"/>
          <p:cNvSpPr/>
          <p:nvPr/>
        </p:nvSpPr>
        <p:spPr>
          <a:xfrm>
            <a:off x="6326188" y="2159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22" name="Text 19"/>
          <p:cNvSpPr/>
          <p:nvPr/>
        </p:nvSpPr>
        <p:spPr>
          <a:xfrm>
            <a:off x="6556375" y="2127250"/>
            <a:ext cx="1484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关键对比实验（30样本）</a:t>
            </a:r>
            <a:endParaRPr lang="en-US" sz="1600"/>
          </a:p>
        </p:txBody>
      </p:sp>
      <p:sp>
        <p:nvSpPr>
          <p:cNvPr id="23" name="Shape 20"/>
          <p:cNvSpPr/>
          <p:nvPr/>
        </p:nvSpPr>
        <p:spPr>
          <a:xfrm>
            <a:off x="6195219" y="2571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4492" y="14883"/>
                </a:moveTo>
                <a:cubicBezTo>
                  <a:pt x="64492" y="6669"/>
                  <a:pt x="71161" y="0"/>
                  <a:pt x="79375" y="0"/>
                </a:cubicBezTo>
                <a:cubicBezTo>
                  <a:pt x="87589" y="0"/>
                  <a:pt x="94258" y="6669"/>
                  <a:pt x="94258" y="14883"/>
                </a:cubicBezTo>
                <a:cubicBezTo>
                  <a:pt x="94258" y="23097"/>
                  <a:pt x="87589" y="29766"/>
                  <a:pt x="79375" y="29766"/>
                </a:cubicBezTo>
                <a:cubicBezTo>
                  <a:pt x="71161" y="29766"/>
                  <a:pt x="64492" y="23097"/>
                  <a:pt x="64492" y="14883"/>
                </a:cubicBezTo>
                <a:close/>
                <a:moveTo>
                  <a:pt x="64492" y="143867"/>
                </a:moveTo>
                <a:cubicBezTo>
                  <a:pt x="64492" y="135653"/>
                  <a:pt x="71161" y="128984"/>
                  <a:pt x="79375" y="128984"/>
                </a:cubicBezTo>
                <a:cubicBezTo>
                  <a:pt x="87589" y="128984"/>
                  <a:pt x="94258" y="135653"/>
                  <a:pt x="94258" y="143867"/>
                </a:cubicBezTo>
                <a:cubicBezTo>
                  <a:pt x="94258" y="152081"/>
                  <a:pt x="87589" y="158750"/>
                  <a:pt x="79375" y="158750"/>
                </a:cubicBezTo>
                <a:cubicBezTo>
                  <a:pt x="71161" y="158750"/>
                  <a:pt x="64492" y="152081"/>
                  <a:pt x="64492" y="143867"/>
                </a:cubicBezTo>
                <a:close/>
                <a:moveTo>
                  <a:pt x="14883" y="64492"/>
                </a:moveTo>
                <a:cubicBezTo>
                  <a:pt x="23097" y="64492"/>
                  <a:pt x="29766" y="71161"/>
                  <a:pt x="29766" y="79375"/>
                </a:cubicBezTo>
                <a:cubicBezTo>
                  <a:pt x="29766" y="87589"/>
                  <a:pt x="23097" y="94258"/>
                  <a:pt x="14883" y="94258"/>
                </a:cubicBezTo>
                <a:cubicBezTo>
                  <a:pt x="6669" y="94258"/>
                  <a:pt x="0" y="87589"/>
                  <a:pt x="0" y="79375"/>
                </a:cubicBezTo>
                <a:cubicBezTo>
                  <a:pt x="0" y="71161"/>
                  <a:pt x="6669" y="64492"/>
                  <a:pt x="14883" y="64492"/>
                </a:cubicBezTo>
                <a:close/>
                <a:moveTo>
                  <a:pt x="128984" y="79375"/>
                </a:moveTo>
                <a:cubicBezTo>
                  <a:pt x="128984" y="71161"/>
                  <a:pt x="135653" y="64492"/>
                  <a:pt x="143867" y="64492"/>
                </a:cubicBezTo>
                <a:cubicBezTo>
                  <a:pt x="152081" y="64492"/>
                  <a:pt x="158750" y="71161"/>
                  <a:pt x="158750" y="79375"/>
                </a:cubicBezTo>
                <a:cubicBezTo>
                  <a:pt x="158750" y="87589"/>
                  <a:pt x="152081" y="94258"/>
                  <a:pt x="143867" y="94258"/>
                </a:cubicBezTo>
                <a:cubicBezTo>
                  <a:pt x="135653" y="94258"/>
                  <a:pt x="128984" y="87589"/>
                  <a:pt x="128984" y="79375"/>
                </a:cubicBezTo>
                <a:close/>
                <a:moveTo>
                  <a:pt x="23254" y="114443"/>
                </a:moveTo>
                <a:cubicBezTo>
                  <a:pt x="29064" y="108633"/>
                  <a:pt x="38498" y="108633"/>
                  <a:pt x="44307" y="114443"/>
                </a:cubicBezTo>
                <a:cubicBezTo>
                  <a:pt x="50117" y="120252"/>
                  <a:pt x="50117" y="129686"/>
                  <a:pt x="44307" y="135496"/>
                </a:cubicBezTo>
                <a:cubicBezTo>
                  <a:pt x="38498" y="141305"/>
                  <a:pt x="29064" y="141305"/>
                  <a:pt x="23254" y="135496"/>
                </a:cubicBezTo>
                <a:cubicBezTo>
                  <a:pt x="17445" y="129686"/>
                  <a:pt x="17445" y="120252"/>
                  <a:pt x="23254" y="114443"/>
                </a:cubicBezTo>
                <a:close/>
                <a:moveTo>
                  <a:pt x="23254" y="23254"/>
                </a:moveTo>
                <a:cubicBezTo>
                  <a:pt x="29064" y="17445"/>
                  <a:pt x="38498" y="17445"/>
                  <a:pt x="44307" y="23254"/>
                </a:cubicBezTo>
                <a:cubicBezTo>
                  <a:pt x="50117" y="29064"/>
                  <a:pt x="50117" y="38498"/>
                  <a:pt x="44307" y="44307"/>
                </a:cubicBezTo>
                <a:cubicBezTo>
                  <a:pt x="38498" y="50117"/>
                  <a:pt x="29064" y="50117"/>
                  <a:pt x="23254" y="44307"/>
                </a:cubicBezTo>
                <a:cubicBezTo>
                  <a:pt x="17445" y="38498"/>
                  <a:pt x="17445" y="29064"/>
                  <a:pt x="23254" y="23254"/>
                </a:cubicBezTo>
                <a:close/>
                <a:moveTo>
                  <a:pt x="135496" y="114443"/>
                </a:moveTo>
                <a:cubicBezTo>
                  <a:pt x="141309" y="120256"/>
                  <a:pt x="141309" y="129682"/>
                  <a:pt x="135496" y="135496"/>
                </a:cubicBezTo>
                <a:cubicBezTo>
                  <a:pt x="129682" y="141309"/>
                  <a:pt x="120256" y="141309"/>
                  <a:pt x="114443" y="135496"/>
                </a:cubicBezTo>
                <a:cubicBezTo>
                  <a:pt x="108629" y="129682"/>
                  <a:pt x="108629" y="120256"/>
                  <a:pt x="114443" y="114443"/>
                </a:cubicBezTo>
                <a:cubicBezTo>
                  <a:pt x="120256" y="108629"/>
                  <a:pt x="129682" y="108629"/>
                  <a:pt x="135496" y="114443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24" name="Text 21"/>
          <p:cNvSpPr/>
          <p:nvPr/>
        </p:nvSpPr>
        <p:spPr>
          <a:xfrm>
            <a:off x="6373813" y="2540000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进行中</a:t>
            </a:r>
            <a:endParaRPr lang="en-US" sz="1600"/>
          </a:p>
        </p:txBody>
      </p:sp>
      <p:sp>
        <p:nvSpPr>
          <p:cNvPr id="25" name="Shape 22"/>
          <p:cNvSpPr/>
          <p:nvPr/>
        </p:nvSpPr>
        <p:spPr>
          <a:xfrm>
            <a:off x="6191250" y="28575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26" name="Shape 23"/>
          <p:cNvSpPr/>
          <p:nvPr/>
        </p:nvSpPr>
        <p:spPr>
          <a:xfrm>
            <a:off x="6191250" y="28575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27" name="Shape 24"/>
          <p:cNvSpPr/>
          <p:nvPr/>
        </p:nvSpPr>
        <p:spPr>
          <a:xfrm>
            <a:off x="6318250" y="2984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7671" y="1290"/>
                </a:moveTo>
                <a:cubicBezTo>
                  <a:pt x="61367" y="-422"/>
                  <a:pt x="65633" y="-422"/>
                  <a:pt x="69329" y="1290"/>
                </a:cubicBezTo>
                <a:lnTo>
                  <a:pt x="123552" y="26343"/>
                </a:lnTo>
                <a:cubicBezTo>
                  <a:pt x="125661" y="27310"/>
                  <a:pt x="127000" y="29418"/>
                  <a:pt x="127000" y="31750"/>
                </a:cubicBezTo>
                <a:cubicBezTo>
                  <a:pt x="127000" y="34082"/>
                  <a:pt x="125661" y="36190"/>
                  <a:pt x="123552" y="37157"/>
                </a:cubicBezTo>
                <a:lnTo>
                  <a:pt x="69329" y="62210"/>
                </a:lnTo>
                <a:cubicBezTo>
                  <a:pt x="65633" y="63922"/>
                  <a:pt x="61367" y="63922"/>
                  <a:pt x="57671" y="62210"/>
                </a:cubicBezTo>
                <a:lnTo>
                  <a:pt x="3448" y="37157"/>
                </a:lnTo>
                <a:cubicBezTo>
                  <a:pt x="1339" y="36165"/>
                  <a:pt x="0" y="34057"/>
                  <a:pt x="0" y="31750"/>
                </a:cubicBezTo>
                <a:cubicBezTo>
                  <a:pt x="0" y="29443"/>
                  <a:pt x="1339" y="27310"/>
                  <a:pt x="3448" y="26343"/>
                </a:cubicBezTo>
                <a:lnTo>
                  <a:pt x="57671" y="1290"/>
                </a:lnTo>
                <a:close/>
                <a:moveTo>
                  <a:pt x="11931" y="54173"/>
                </a:moveTo>
                <a:lnTo>
                  <a:pt x="52685" y="73000"/>
                </a:lnTo>
                <a:cubicBezTo>
                  <a:pt x="59556" y="76175"/>
                  <a:pt x="67469" y="76175"/>
                  <a:pt x="74340" y="73000"/>
                </a:cubicBezTo>
                <a:lnTo>
                  <a:pt x="115094" y="54173"/>
                </a:lnTo>
                <a:lnTo>
                  <a:pt x="123552" y="58093"/>
                </a:lnTo>
                <a:cubicBezTo>
                  <a:pt x="125661" y="59060"/>
                  <a:pt x="127000" y="61168"/>
                  <a:pt x="127000" y="63500"/>
                </a:cubicBezTo>
                <a:cubicBezTo>
                  <a:pt x="127000" y="65832"/>
                  <a:pt x="125661" y="67940"/>
                  <a:pt x="123552" y="68907"/>
                </a:cubicBezTo>
                <a:lnTo>
                  <a:pt x="69329" y="93960"/>
                </a:lnTo>
                <a:cubicBezTo>
                  <a:pt x="65633" y="95672"/>
                  <a:pt x="61367" y="95672"/>
                  <a:pt x="57671" y="93960"/>
                </a:cubicBezTo>
                <a:lnTo>
                  <a:pt x="3448" y="68907"/>
                </a:lnTo>
                <a:cubicBezTo>
                  <a:pt x="1339" y="67915"/>
                  <a:pt x="0" y="65807"/>
                  <a:pt x="0" y="63500"/>
                </a:cubicBezTo>
                <a:cubicBezTo>
                  <a:pt x="0" y="61193"/>
                  <a:pt x="1339" y="59060"/>
                  <a:pt x="3448" y="58093"/>
                </a:cubicBezTo>
                <a:lnTo>
                  <a:pt x="11906" y="54173"/>
                </a:lnTo>
                <a:close/>
                <a:moveTo>
                  <a:pt x="3448" y="89843"/>
                </a:moveTo>
                <a:lnTo>
                  <a:pt x="11906" y="85923"/>
                </a:lnTo>
                <a:lnTo>
                  <a:pt x="52660" y="104750"/>
                </a:lnTo>
                <a:cubicBezTo>
                  <a:pt x="59531" y="107925"/>
                  <a:pt x="67444" y="107925"/>
                  <a:pt x="74315" y="104750"/>
                </a:cubicBezTo>
                <a:lnTo>
                  <a:pt x="115069" y="85923"/>
                </a:lnTo>
                <a:lnTo>
                  <a:pt x="123527" y="89843"/>
                </a:lnTo>
                <a:cubicBezTo>
                  <a:pt x="125636" y="90810"/>
                  <a:pt x="126975" y="92918"/>
                  <a:pt x="126975" y="95250"/>
                </a:cubicBezTo>
                <a:cubicBezTo>
                  <a:pt x="126975" y="97582"/>
                  <a:pt x="125636" y="99690"/>
                  <a:pt x="123527" y="100657"/>
                </a:cubicBezTo>
                <a:lnTo>
                  <a:pt x="69304" y="125710"/>
                </a:lnTo>
                <a:cubicBezTo>
                  <a:pt x="65608" y="127422"/>
                  <a:pt x="61342" y="127422"/>
                  <a:pt x="57646" y="125710"/>
                </a:cubicBezTo>
                <a:lnTo>
                  <a:pt x="3448" y="100657"/>
                </a:lnTo>
                <a:cubicBezTo>
                  <a:pt x="1339" y="99665"/>
                  <a:pt x="0" y="97557"/>
                  <a:pt x="0" y="95250"/>
                </a:cubicBezTo>
                <a:cubicBezTo>
                  <a:pt x="0" y="92943"/>
                  <a:pt x="1339" y="90810"/>
                  <a:pt x="3448" y="89843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28" name="Text 25"/>
          <p:cNvSpPr/>
          <p:nvPr/>
        </p:nvSpPr>
        <p:spPr>
          <a:xfrm>
            <a:off x="6556375" y="2952750"/>
            <a:ext cx="1912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Hybrid分层验证与复核流程完善</a:t>
            </a:r>
            <a:endParaRPr lang="en-US" sz="1600"/>
          </a:p>
        </p:txBody>
      </p:sp>
      <p:sp>
        <p:nvSpPr>
          <p:cNvPr id="29" name="Shape 26"/>
          <p:cNvSpPr/>
          <p:nvPr/>
        </p:nvSpPr>
        <p:spPr>
          <a:xfrm>
            <a:off x="6195219" y="3397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30" name="Text 27"/>
          <p:cNvSpPr/>
          <p:nvPr/>
        </p:nvSpPr>
        <p:spPr>
          <a:xfrm>
            <a:off x="6373813" y="3365500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待完成</a:t>
            </a:r>
            <a:endParaRPr lang="en-US" sz="1600"/>
          </a:p>
        </p:txBody>
      </p:sp>
      <p:sp>
        <p:nvSpPr>
          <p:cNvPr id="31" name="Shape 28"/>
          <p:cNvSpPr/>
          <p:nvPr/>
        </p:nvSpPr>
        <p:spPr>
          <a:xfrm>
            <a:off x="6191250" y="36830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7ED"/>
          </a:solidFill>
        </p:spPr>
      </p:sp>
      <p:sp>
        <p:nvSpPr>
          <p:cNvPr id="32" name="Shape 29"/>
          <p:cNvSpPr/>
          <p:nvPr/>
        </p:nvSpPr>
        <p:spPr>
          <a:xfrm>
            <a:off x="6191250" y="36830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33" name="Shape 30"/>
          <p:cNvSpPr/>
          <p:nvPr/>
        </p:nvSpPr>
        <p:spPr>
          <a:xfrm>
            <a:off x="6326188" y="3810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34" name="Text 31"/>
          <p:cNvSpPr/>
          <p:nvPr/>
        </p:nvSpPr>
        <p:spPr>
          <a:xfrm>
            <a:off x="6556375" y="377825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在线稳定复验</a:t>
            </a:r>
            <a:endParaRPr lang="en-US" sz="1600"/>
          </a:p>
        </p:txBody>
      </p:sp>
      <p:sp>
        <p:nvSpPr>
          <p:cNvPr id="35" name="Shape 32"/>
          <p:cNvSpPr/>
          <p:nvPr/>
        </p:nvSpPr>
        <p:spPr>
          <a:xfrm>
            <a:off x="6191250" y="41275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7ED"/>
          </a:solidFill>
        </p:spPr>
      </p:sp>
      <p:sp>
        <p:nvSpPr>
          <p:cNvPr id="36" name="Shape 33"/>
          <p:cNvSpPr/>
          <p:nvPr/>
        </p:nvSpPr>
        <p:spPr>
          <a:xfrm>
            <a:off x="6191250" y="41275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37" name="Shape 34"/>
          <p:cNvSpPr/>
          <p:nvPr/>
        </p:nvSpPr>
        <p:spPr>
          <a:xfrm>
            <a:off x="6318250" y="4254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38" name="Text 35"/>
          <p:cNvSpPr/>
          <p:nvPr/>
        </p:nvSpPr>
        <p:spPr>
          <a:xfrm>
            <a:off x="6556375" y="422275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消融统计</a:t>
            </a:r>
            <a:endParaRPr lang="en-US" sz="1600"/>
          </a:p>
        </p:txBody>
      </p:sp>
      <p:sp>
        <p:nvSpPr>
          <p:cNvPr id="39" name="Shape 36"/>
          <p:cNvSpPr/>
          <p:nvPr/>
        </p:nvSpPr>
        <p:spPr>
          <a:xfrm>
            <a:off x="6191250" y="4572000"/>
            <a:ext cx="5683250" cy="381000"/>
          </a:xfrm>
          <a:custGeom>
            <a:avLst/>
            <a:gdLst/>
            <a:ahLst/>
            <a:cxnLst/>
            <a:rect l="l" t="t" r="r" b="b"/>
            <a:pathLst>
              <a:path w="5683250" h="381000">
                <a:moveTo>
                  <a:pt x="31749" y="0"/>
                </a:moveTo>
                <a:lnTo>
                  <a:pt x="5651501" y="0"/>
                </a:lnTo>
                <a:cubicBezTo>
                  <a:pt x="5669036" y="0"/>
                  <a:pt x="5683250" y="14214"/>
                  <a:pt x="5683250" y="31749"/>
                </a:cubicBezTo>
                <a:lnTo>
                  <a:pt x="5683250" y="349251"/>
                </a:lnTo>
                <a:cubicBezTo>
                  <a:pt x="5683250" y="366786"/>
                  <a:pt x="5669036" y="381000"/>
                  <a:pt x="56515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7ED"/>
          </a:solidFill>
        </p:spPr>
      </p:sp>
      <p:sp>
        <p:nvSpPr>
          <p:cNvPr id="40" name="Shape 37"/>
          <p:cNvSpPr/>
          <p:nvPr/>
        </p:nvSpPr>
        <p:spPr>
          <a:xfrm>
            <a:off x="6191250" y="457200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4900"/>
          </a:solidFill>
        </p:spPr>
      </p:sp>
      <p:sp>
        <p:nvSpPr>
          <p:cNvPr id="41" name="Shape 38"/>
          <p:cNvSpPr/>
          <p:nvPr/>
        </p:nvSpPr>
        <p:spPr>
          <a:xfrm>
            <a:off x="6334125" y="4699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54900"/>
          </a:solidFill>
        </p:spPr>
      </p:sp>
      <p:sp>
        <p:nvSpPr>
          <p:cNvPr id="42" name="Text 39"/>
          <p:cNvSpPr/>
          <p:nvPr/>
        </p:nvSpPr>
        <p:spPr>
          <a:xfrm>
            <a:off x="6556375" y="466725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论文写作整合</a:t>
            </a:r>
            <a:endParaRPr lang="en-US" sz="1600"/>
          </a:p>
        </p:txBody>
      </p:sp>
      <p:sp>
        <p:nvSpPr>
          <p:cNvPr id="43" name="Shape 40"/>
          <p:cNvSpPr/>
          <p:nvPr/>
        </p:nvSpPr>
        <p:spPr>
          <a:xfrm>
            <a:off x="6191250" y="5080000"/>
            <a:ext cx="5683250" cy="1333500"/>
          </a:xfrm>
          <a:custGeom>
            <a:avLst/>
            <a:gdLst/>
            <a:ahLst/>
            <a:cxnLst/>
            <a:rect l="l" t="t" r="r" b="b"/>
            <a:pathLst>
              <a:path w="5683250" h="1333500">
                <a:moveTo>
                  <a:pt x="31750" y="0"/>
                </a:moveTo>
                <a:lnTo>
                  <a:pt x="5651499" y="0"/>
                </a:lnTo>
                <a:cubicBezTo>
                  <a:pt x="5669035" y="0"/>
                  <a:pt x="5683250" y="14215"/>
                  <a:pt x="5683250" y="31751"/>
                </a:cubicBezTo>
                <a:lnTo>
                  <a:pt x="5683250" y="1301749"/>
                </a:lnTo>
                <a:cubicBezTo>
                  <a:pt x="5683250" y="1319285"/>
                  <a:pt x="5669035" y="1333500"/>
                  <a:pt x="5651499" y="1333500"/>
                </a:cubicBezTo>
                <a:lnTo>
                  <a:pt x="31750" y="1333500"/>
                </a:lnTo>
                <a:cubicBezTo>
                  <a:pt x="14215" y="1333500"/>
                  <a:pt x="0" y="1319285"/>
                  <a:pt x="0" y="130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6191250" y="5080000"/>
            <a:ext cx="31750" cy="1333500"/>
          </a:xfrm>
          <a:custGeom>
            <a:avLst/>
            <a:gdLst/>
            <a:ahLst/>
            <a:cxnLst/>
            <a:rect l="l" t="t" r="r" b="b"/>
            <a:pathLst>
              <a:path w="31750" h="1333500">
                <a:moveTo>
                  <a:pt x="31750" y="0"/>
                </a:moveTo>
                <a:lnTo>
                  <a:pt x="31750" y="0"/>
                </a:lnTo>
                <a:lnTo>
                  <a:pt x="31750" y="1333500"/>
                </a:lnTo>
                <a:lnTo>
                  <a:pt x="31750" y="1333500"/>
                </a:lnTo>
                <a:cubicBezTo>
                  <a:pt x="14227" y="1333500"/>
                  <a:pt x="0" y="1319273"/>
                  <a:pt x="0" y="130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5" name="Shape 42"/>
          <p:cNvSpPr/>
          <p:nvPr/>
        </p:nvSpPr>
        <p:spPr>
          <a:xfrm>
            <a:off x="6353969" y="52466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6" name="Text 43"/>
          <p:cNvSpPr/>
          <p:nvPr/>
        </p:nvSpPr>
        <p:spPr>
          <a:xfrm>
            <a:off x="6516688" y="5207000"/>
            <a:ext cx="5302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125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风险与资源</a:t>
            </a:r>
            <a:endParaRPr lang="en-US" sz="1600"/>
          </a:p>
        </p:txBody>
      </p:sp>
      <p:sp>
        <p:nvSpPr>
          <p:cNvPr id="47" name="Text 44"/>
          <p:cNvSpPr/>
          <p:nvPr/>
        </p:nvSpPr>
        <p:spPr>
          <a:xfrm>
            <a:off x="6334125" y="55245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48" name="Text 45"/>
          <p:cNvSpPr/>
          <p:nvPr/>
        </p:nvSpPr>
        <p:spPr>
          <a:xfrm>
            <a:off x="6524625" y="5524500"/>
            <a:ext cx="1643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GPU资源（申请中）</a:t>
            </a:r>
            <a:endParaRPr lang="en-US" sz="1600"/>
          </a:p>
        </p:txBody>
      </p:sp>
      <p:sp>
        <p:nvSpPr>
          <p:cNvPr id="49" name="Text 46"/>
          <p:cNvSpPr/>
          <p:nvPr/>
        </p:nvSpPr>
        <p:spPr>
          <a:xfrm>
            <a:off x="6524625" y="5715000"/>
            <a:ext cx="1635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8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需要稳定GPU环境完成在线复验</a:t>
            </a:r>
            <a:endParaRPr lang="en-US" sz="1600"/>
          </a:p>
        </p:txBody>
      </p:sp>
      <p:sp>
        <p:nvSpPr>
          <p:cNvPr id="50" name="Text 47"/>
          <p:cNvSpPr/>
          <p:nvPr/>
        </p:nvSpPr>
        <p:spPr>
          <a:xfrm>
            <a:off x="6334125" y="593725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</a:t>
            </a:r>
            <a:endParaRPr lang="en-US" sz="1600"/>
          </a:p>
        </p:txBody>
      </p:sp>
      <p:sp>
        <p:nvSpPr>
          <p:cNvPr id="51" name="Text 48"/>
          <p:cNvSpPr/>
          <p:nvPr/>
        </p:nvSpPr>
        <p:spPr>
          <a:xfrm>
            <a:off x="6524625" y="59372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0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数据标注（计划中）</a:t>
            </a:r>
            <a:endParaRPr lang="en-US" sz="1600"/>
          </a:p>
        </p:txBody>
      </p:sp>
      <p:sp>
        <p:nvSpPr>
          <p:cNvPr id="52" name="Text 49"/>
          <p:cNvSpPr/>
          <p:nvPr/>
        </p:nvSpPr>
        <p:spPr>
          <a:xfrm>
            <a:off x="6524625" y="6127750"/>
            <a:ext cx="119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8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扩展测试集至100+样本</a:t>
            </a:r>
            <a:endParaRPr lang="en-US" sz="1600"/>
          </a:p>
        </p:txBody>
      </p:sp>
      <p:sp>
        <p:nvSpPr>
          <p:cNvPr id="53" name="Shape 50"/>
          <p:cNvSpPr/>
          <p:nvPr/>
        </p:nvSpPr>
        <p:spPr>
          <a:xfrm>
            <a:off x="317500" y="6540500"/>
            <a:ext cx="11557000" cy="381000"/>
          </a:xfrm>
          <a:custGeom>
            <a:avLst/>
            <a:gdLst/>
            <a:ahLst/>
            <a:cxnLst/>
            <a:rect l="l" t="t" r="r" b="b"/>
            <a:pathLst>
              <a:path w="11557000" h="381000">
                <a:moveTo>
                  <a:pt x="63501" y="0"/>
                </a:moveTo>
                <a:lnTo>
                  <a:pt x="11493499" y="0"/>
                </a:lnTo>
                <a:cubicBezTo>
                  <a:pt x="11528570" y="0"/>
                  <a:pt x="11557000" y="28430"/>
                  <a:pt x="11557000" y="63501"/>
                </a:cubicBezTo>
                <a:lnTo>
                  <a:pt x="11557000" y="317499"/>
                </a:lnTo>
                <a:cubicBezTo>
                  <a:pt x="11557000" y="352570"/>
                  <a:pt x="11528570" y="381000"/>
                  <a:pt x="11493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4" name="Shape 51"/>
          <p:cNvSpPr/>
          <p:nvPr/>
        </p:nvSpPr>
        <p:spPr>
          <a:xfrm>
            <a:off x="4516239" y="66675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Text 52"/>
          <p:cNvSpPr/>
          <p:nvPr/>
        </p:nvSpPr>
        <p:spPr>
          <a:xfrm>
            <a:off x="579438" y="6635750"/>
            <a:ext cx="11231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0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进度严格对齐开题安排，计划清晰可控、风险可管理</a:t>
            </a:r>
            <a:endParaRPr lang="en-US" sz="1600"/>
          </a:p>
        </p:txBody>
      </p:sp>
      <p:sp>
        <p:nvSpPr>
          <p:cNvPr id="56" name="Text 53"/>
          <p:cNvSpPr/>
          <p:nvPr/>
        </p:nvSpPr>
        <p:spPr>
          <a:xfrm>
            <a:off x="261937" y="69850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r">
              <a:lnSpc>
                <a:spcPct val="120000"/>
              </a:lnSpc>
            </a:pPr>
            <a:r>
              <a:rPr lang="en-US" sz="875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72c08e50b10d5c7e1b1ac950bff802d6538b8639.jpg"/>
          <p:cNvPicPr>
            <a:picLocks noChangeAspect="1"/>
          </p:cNvPicPr>
          <p:nvPr/>
        </p:nvPicPr>
        <p:blipFill>
          <a:blip r:embed="rId1">
            <a:alphaModFix amt="15000"/>
          </a:blip>
          <a:srcRect t="78" b="78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4508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EFF6FF">
                  <a:alpha val="80000"/>
                </a:srgbClr>
              </a:gs>
            </a:gsLst>
            <a:lin ang="2700000" scaled="1"/>
            <a:tileRect/>
          </a:gradFill>
        </p:spPr>
      </p:sp>
      <p:sp>
        <p:nvSpPr>
          <p:cNvPr id="4" name="Text 1"/>
          <p:cNvSpPr/>
          <p:nvPr/>
        </p:nvSpPr>
        <p:spPr>
          <a:xfrm>
            <a:off x="381000" y="400050"/>
            <a:ext cx="428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7.1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808792" y="381000"/>
            <a:ext cx="1571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总结与请教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381000" y="800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7" name="Shape 4"/>
          <p:cNvSpPr/>
          <p:nvPr/>
        </p:nvSpPr>
        <p:spPr>
          <a:xfrm>
            <a:off x="428625" y="1028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Text 5"/>
          <p:cNvSpPr/>
          <p:nvPr/>
        </p:nvSpPr>
        <p:spPr>
          <a:xfrm>
            <a:off x="619125" y="9906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中期核心结论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400050" y="13716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61999"/>
                </a:lnTo>
                <a:cubicBezTo>
                  <a:pt x="5600700" y="804084"/>
                  <a:pt x="5566584" y="838200"/>
                  <a:pt x="55244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10" name="Shape 7"/>
          <p:cNvSpPr/>
          <p:nvPr/>
        </p:nvSpPr>
        <p:spPr>
          <a:xfrm>
            <a:off x="400050" y="1371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1" name="Shape 8"/>
          <p:cNvSpPr/>
          <p:nvPr/>
        </p:nvSpPr>
        <p:spPr>
          <a:xfrm>
            <a:off x="595313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2" name="Text 9"/>
          <p:cNvSpPr/>
          <p:nvPr/>
        </p:nvSpPr>
        <p:spPr>
          <a:xfrm>
            <a:off x="923925" y="1524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可复现实验闭环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571500" y="1828800"/>
            <a:ext cx="535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评估系统与多方案横向对比已完成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400050" y="23241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61999"/>
                </a:lnTo>
                <a:cubicBezTo>
                  <a:pt x="5600700" y="804084"/>
                  <a:pt x="5566584" y="838200"/>
                  <a:pt x="55244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5" name="Shape 12"/>
          <p:cNvSpPr/>
          <p:nvPr/>
        </p:nvSpPr>
        <p:spPr>
          <a:xfrm>
            <a:off x="400050" y="2324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16" name="Shape 13"/>
          <p:cNvSpPr/>
          <p:nvPr/>
        </p:nvSpPr>
        <p:spPr>
          <a:xfrm>
            <a:off x="595313" y="2495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17" name="Text 14"/>
          <p:cNvSpPr/>
          <p:nvPr/>
        </p:nvSpPr>
        <p:spPr>
          <a:xfrm>
            <a:off x="923925" y="24765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清晰优化边界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571500" y="2781300"/>
            <a:ext cx="535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识别小模型能力边界与改进空间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>
          <a:xfrm>
            <a:off x="400050" y="32766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61999"/>
                </a:lnTo>
                <a:cubicBezTo>
                  <a:pt x="5600700" y="804084"/>
                  <a:pt x="5566584" y="838200"/>
                  <a:pt x="55244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400050" y="32766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8"/>
          <p:cNvSpPr/>
          <p:nvPr/>
        </p:nvSpPr>
        <p:spPr>
          <a:xfrm>
            <a:off x="595313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19"/>
          <p:cNvSpPr/>
          <p:nvPr/>
        </p:nvSpPr>
        <p:spPr>
          <a:xfrm>
            <a:off x="923925" y="34290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最优级联路径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571500" y="3733800"/>
            <a:ext cx="5353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Hybrid Cascade实现召回与精度平衡</a:t>
            </a:r>
            <a:endParaRPr lang="en-US" sz="1600"/>
          </a:p>
        </p:txBody>
      </p:sp>
      <p:sp>
        <p:nvSpPr>
          <p:cNvPr id="24" name="Shape 21"/>
          <p:cNvSpPr/>
          <p:nvPr/>
        </p:nvSpPr>
        <p:spPr>
          <a:xfrm>
            <a:off x="400050" y="4267200"/>
            <a:ext cx="5600700" cy="1181100"/>
          </a:xfrm>
          <a:custGeom>
            <a:avLst/>
            <a:gdLst/>
            <a:ahLst/>
            <a:cxnLst/>
            <a:rect l="l" t="t" r="r" b="b"/>
            <a:pathLst>
              <a:path w="5600700" h="1181100">
                <a:moveTo>
                  <a:pt x="38100" y="0"/>
                </a:moveTo>
                <a:lnTo>
                  <a:pt x="5562598" y="0"/>
                </a:lnTo>
                <a:cubicBezTo>
                  <a:pt x="5583627" y="0"/>
                  <a:pt x="5600700" y="17073"/>
                  <a:pt x="5600700" y="38102"/>
                </a:cubicBezTo>
                <a:lnTo>
                  <a:pt x="5600700" y="1142998"/>
                </a:lnTo>
                <a:cubicBezTo>
                  <a:pt x="5600700" y="1164041"/>
                  <a:pt x="5583641" y="1181100"/>
                  <a:pt x="5562598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400050" y="42672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Shape 23"/>
          <p:cNvSpPr/>
          <p:nvPr/>
        </p:nvSpPr>
        <p:spPr>
          <a:xfrm>
            <a:off x="616744" y="4467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4"/>
          <p:cNvSpPr/>
          <p:nvPr/>
        </p:nvSpPr>
        <p:spPr>
          <a:xfrm>
            <a:off x="790575" y="44196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方法结论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>
          <a:xfrm>
            <a:off x="571500" y="4800600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四模块主干有效</a:t>
            </a:r>
            <a:r>
              <a:rPr lang="en-US" sz="120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（情感分析→域映射→双向交互→联合判别），新增方案按证据推进，保持"谨慎接入、逐层验证"原则</a:t>
            </a:r>
            <a:endParaRPr lang="en-US" sz="1600"/>
          </a:p>
        </p:txBody>
      </p:sp>
      <p:sp>
        <p:nvSpPr>
          <p:cNvPr id="42" name="Shape 39"/>
          <p:cNvSpPr/>
          <p:nvPr/>
        </p:nvSpPr>
        <p:spPr>
          <a:xfrm>
            <a:off x="6394847" y="391858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1"/>
          <p:cNvSpPr/>
          <p:nvPr/>
        </p:nvSpPr>
        <p:spPr>
          <a:xfrm>
            <a:off x="6381750" y="4251964"/>
            <a:ext cx="53149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>
              <a:lnSpc>
                <a:spcPct val="140000"/>
              </a:lnSpc>
            </a:pPr>
            <a:r>
              <a:rPr lang="en-US" sz="120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感谢各位老师的指导！期待进一步交流与建议</a:t>
            </a:r>
            <a:endParaRPr lang="en-US" sz="1600"/>
          </a:p>
        </p:txBody>
      </p:sp>
      <p:sp>
        <p:nvSpPr>
          <p:cNvPr id="45" name="Shape 42"/>
          <p:cNvSpPr/>
          <p:nvPr/>
        </p:nvSpPr>
        <p:spPr>
          <a:xfrm>
            <a:off x="381000" y="57150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46" name="Shape 43"/>
          <p:cNvSpPr/>
          <p:nvPr/>
        </p:nvSpPr>
        <p:spPr>
          <a:xfrm>
            <a:off x="4428887" y="5867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4"/>
          <p:cNvSpPr/>
          <p:nvPr/>
        </p:nvSpPr>
        <p:spPr>
          <a:xfrm>
            <a:off x="704850" y="5829300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 b="1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感谢指导，后续将以同口径复验持续收敛结果</a:t>
            </a:r>
            <a:endParaRPr lang="en-US" sz="1600"/>
          </a:p>
        </p:txBody>
      </p:sp>
      <p:sp>
        <p:nvSpPr>
          <p:cNvPr id="48" name="Text 45"/>
          <p:cNvSpPr/>
          <p:nvPr/>
        </p:nvSpPr>
        <p:spPr>
          <a:xfrm>
            <a:off x="342900" y="62484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algn="l" defTabSz="914400" rtl="0" eaLnBrk="0" latinLnBrk="0" hangingPunct="0">
              <a:defRPr sz="1800" kern="1200">
                <a:solidFill>
                  <a:schemeClr val="phClr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</a:lstStyle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汇报人：魏自翔 | 学号：22009200873 | 指导教师：王皓 | 网络与信息安全学院 | 2026年3月</a:t>
            </a:r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3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4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5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6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7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8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9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0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1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2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3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4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5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6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7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8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19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0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1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2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3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4.xml><?xml version="1.0" encoding="utf-8"?>
<p:tagLst xmlns:p="http://schemas.openxmlformats.org/presentationml/2006/main">
  <p:tag name="KSO_WM_DIAGRAM_VIRTUALLY_FRAME" val="{&quot;height&quot;:274.0937795275591,&quot;left&quot;:28.215511811023624,&quot;top&quot;:96.73897637795275,&quot;width&quot;:445.40236220472445}"/>
</p:tagLst>
</file>

<file path=ppt/tags/tag25.xml><?xml version="1.0" encoding="utf-8"?>
<p:tagLst xmlns:p="http://schemas.openxmlformats.org/presentationml/2006/main">
  <p:tag name="AS_NET" val="4.0.30319.42000"/>
  <p:tag name="AS_OS" val="Microsoft Windows NT 10.0.20348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4294</Words>
  <Application>WPS 演示</Application>
  <PresentationFormat>全屏显示(4:3)</PresentationFormat>
  <Paragraphs>666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Arial</vt:lpstr>
      <vt:lpstr>思源宋体</vt:lpstr>
      <vt:lpstr>思源宋体</vt:lpstr>
      <vt:lpstr>思源宋体</vt:lpstr>
      <vt:lpstr>Noto Sans SC</vt:lpstr>
      <vt:lpstr>Noto Sans SC</vt:lpstr>
      <vt:lpstr>微软雅黑</vt:lpstr>
      <vt:lpstr>微软雅黑</vt:lpstr>
      <vt:lpstr>MiSans</vt:lpstr>
      <vt:lpstr>MiSans</vt:lpstr>
      <vt:lpstr>MiSans</vt:lpstr>
      <vt:lpstr>Arial Unicode MS</vt:lpstr>
      <vt:lpstr>Calibri</vt:lpstr>
      <vt:lpstr>等线</vt:lpstr>
      <vt:lpstr>Segoe Print</vt:lpstr>
      <vt:lpstr>MingLiU-ExtB</vt:lpstr>
      <vt:lpstr>Office Theme</vt:lpstr>
      <vt:lpstr>Custom Theme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WPS_1661652264</cp:lastModifiedBy>
  <cp:revision>10</cp:revision>
  <dcterms:created xsi:type="dcterms:W3CDTF">2026-03-17T12:55:00Z</dcterms:created>
  <dcterms:modified xsi:type="dcterms:W3CDTF">2026-03-17T14:08:57Z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93803014DA254D018B42398768D7097C_13</vt:lpwstr>
  </property>
  <property fmtid="{D5CDD505-2E9C-101B-9397-08002B2CF9AE}" pid="3" name="KSOProductBuildVer">
    <vt:lpwstr>2052-12.1.0.25225</vt:lpwstr>
  </property>
</Properties>
</file>